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60" r:id="rId5"/>
    <p:sldId id="262" r:id="rId6"/>
    <p:sldId id="270" r:id="rId7"/>
    <p:sldId id="263" r:id="rId8"/>
    <p:sldId id="271" r:id="rId9"/>
    <p:sldId id="266" r:id="rId10"/>
    <p:sldId id="272" r:id="rId11"/>
    <p:sldId id="274" r:id="rId12"/>
    <p:sldId id="273" r:id="rId13"/>
    <p:sldId id="275" r:id="rId14"/>
    <p:sldId id="277" r:id="rId15"/>
    <p:sldId id="278" r:id="rId16"/>
    <p:sldId id="280" r:id="rId17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8502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9805" autoAdjust="0"/>
  </p:normalViewPr>
  <p:slideViewPr>
    <p:cSldViewPr showGuides="1">
      <p:cViewPr varScale="1">
        <p:scale>
          <a:sx n="105" d="100"/>
          <a:sy n="105" d="100"/>
        </p:scale>
        <p:origin x="79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2026/10/15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of combustor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NH3/H2/air, phi 0.7, 1atm</a:t>
            </a:r>
          </a:p>
          <a:p>
            <a:r>
              <a:rPr lang="en-US" dirty="0"/>
              <a:t>NH3/H2/air, phi 1.3, 1atm</a:t>
            </a:r>
          </a:p>
          <a:p>
            <a:endParaRPr lang="en-US" dirty="0"/>
          </a:p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9416" y="1268760"/>
            <a:ext cx="5616575" cy="4777682"/>
          </a:xfrm>
        </p:spPr>
        <p:txBody>
          <a:bodyPr anchor="ctr"/>
          <a:lstStyle/>
          <a:p>
            <a:r>
              <a:rPr lang="en-GB" sz="2000" dirty="0"/>
              <a:t>Numerically simulating ammonia blends is necessary for combustion system development.</a:t>
            </a:r>
          </a:p>
          <a:p>
            <a:endParaRPr lang="en-GB" sz="2000" dirty="0"/>
          </a:p>
          <a:p>
            <a:r>
              <a:rPr lang="en-GB" sz="2000" dirty="0"/>
              <a:t>Large-scale or 3D modelling with detailed chemical kinetics mechanisms increases computational cost.</a:t>
            </a:r>
          </a:p>
          <a:p>
            <a:endParaRPr lang="en-GB" sz="2000" dirty="0"/>
          </a:p>
          <a:p>
            <a:r>
              <a:rPr lang="en-GB" sz="2000" dirty="0"/>
              <a:t>Reduced chemical kinetic mechanisms optimized for multiple ammonia blends and operating conditions is needed.</a:t>
            </a:r>
          </a:p>
          <a:p>
            <a:endParaRPr lang="en-GB" sz="20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C572-D320-9E1B-6FFE-DBDAEF9864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92824" y="3513585"/>
            <a:ext cx="3015064" cy="2214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6A4A50-BD65-57A1-23B3-5AA1C2AB35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08" r="12563"/>
          <a:stretch>
            <a:fillRect/>
          </a:stretch>
        </p:blipFill>
        <p:spPr>
          <a:xfrm>
            <a:off x="7248128" y="908720"/>
            <a:ext cx="4104456" cy="191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8A3C5A-9569-5C05-F63E-7C242F6BE4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20" y="3284984"/>
            <a:ext cx="3174434" cy="2880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A584A7-2630-13ED-9954-5D0491438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054" y="3903984"/>
            <a:ext cx="1460396" cy="16852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46367E-5E47-713B-C0D6-60F7BC616F4F}"/>
              </a:ext>
            </a:extLst>
          </p:cNvPr>
          <p:cNvCxnSpPr>
            <a:cxnSpLocks/>
          </p:cNvCxnSpPr>
          <p:nvPr/>
        </p:nvCxnSpPr>
        <p:spPr>
          <a:xfrm>
            <a:off x="5591944" y="4869160"/>
            <a:ext cx="2232248" cy="0"/>
          </a:xfrm>
          <a:prstGeom prst="straightConnector1">
            <a:avLst/>
          </a:prstGeom>
          <a:ln w="76200">
            <a:solidFill>
              <a:srgbClr val="8502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Magnifying glass with solid fill">
            <a:extLst>
              <a:ext uri="{FF2B5EF4-FFF2-40B4-BE49-F238E27FC236}">
                <a16:creationId xmlns:a16="http://schemas.microsoft.com/office/drawing/2014/main" id="{3C333A0E-AE3B-2E55-4567-211D3821AE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05845" y="381074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already satisfactorily models laminar burning velocity of NH3/air and NH3/CH4/air flame.</a:t>
                </a:r>
              </a:p>
              <a:p>
                <a:pPr lvl="1"/>
                <a:r>
                  <a:rPr lang="en-US" dirty="0"/>
                  <a:t>Fails to model NH3/H2/air flames at hydrogen concentrations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Reaction mechanism by Gotama et al. (2022) was used to study the differences in ammonia and hydrogen kinetics interaction.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Mechanisms were compared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152907"/>
            <a:ext cx="10691186" cy="4043485"/>
          </a:xfr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392FD-A7DC-53D3-86AA-59DB820A8B3D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/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			(a)						(b)</a:t>
                </a:r>
              </a:p>
              <a:p>
                <a:endParaRPr lang="en-US" sz="900" dirty="0"/>
              </a:p>
              <a:p>
                <a:r>
                  <a:rPr lang="en-US" sz="1400" dirty="0"/>
                  <a:t>Figure: Reaction pathway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400" dirty="0"/>
                  <a:t> and equivalence ratio of 1.0 using (a) Okafor Reduced Mech and (b) Gotama Mech.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blipFill>
                <a:blip r:embed="rId4"/>
                <a:stretch>
                  <a:fillRect l="-172" t="-2013" b="-6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NH2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sz="2400" dirty="0"/>
                  <a:t> N2H3 reaction pathway was not modelled in Okafor Reduced Mech.</a:t>
                </a:r>
              </a:p>
              <a:p>
                <a:pPr lvl="1"/>
                <a:r>
                  <a:rPr lang="en-US" sz="2000" dirty="0"/>
                  <a:t>Formation of N2H3: NH2 + NH = N2H3</a:t>
                </a:r>
              </a:p>
              <a:p>
                <a:pPr lvl="1"/>
                <a:r>
                  <a:rPr lang="en-US" sz="2000" dirty="0"/>
                  <a:t>Consumption of N2H3: N2H3 + H = 2NH2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H pathway in Gotama Mech was dominated by NNH = N2 + H</a:t>
                </a:r>
              </a:p>
              <a:p>
                <a:pPr lvl="1"/>
                <a:r>
                  <a:rPr lang="en-US" sz="2000" dirty="0"/>
                  <a:t>Contributes to H radical production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IROP of NH2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N2H2 pathway was higher in Gotama Mech.</a:t>
                </a:r>
              </a:p>
              <a:p>
                <a:pPr lvl="1"/>
                <a:r>
                  <a:rPr lang="en-US" sz="2000" dirty="0"/>
                  <a:t>NH2 + NH = N2H2 + H contributes the most to this pathway.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N2H2 formation further promotes N2H2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74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3007</TotalTime>
  <Words>746</Words>
  <Application>Microsoft Office PowerPoint</Application>
  <PresentationFormat>Widescreen</PresentationFormat>
  <Paragraphs>93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Validation – NH3/H2/air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93</cp:revision>
  <cp:lastPrinted>2013-02-26T06:20:36Z</cp:lastPrinted>
  <dcterms:created xsi:type="dcterms:W3CDTF">2007-10-25T08:30:33Z</dcterms:created>
  <dcterms:modified xsi:type="dcterms:W3CDTF">2026-10-16T05:42:19Z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