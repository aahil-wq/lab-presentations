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ink/ink9.xml" ContentType="application/inkml+xml"/>
  <Override PartName="/ppt/ink/ink10.xml" ContentType="application/inkml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ink/ink11.xml" ContentType="application/inkml+xml"/>
  <Override PartName="/ppt/ink/ink12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84" r:id="rId11"/>
    <p:sldId id="272" r:id="rId12"/>
    <p:sldId id="274" r:id="rId13"/>
    <p:sldId id="291" r:id="rId14"/>
    <p:sldId id="273" r:id="rId15"/>
    <p:sldId id="281" r:id="rId16"/>
    <p:sldId id="287" r:id="rId17"/>
    <p:sldId id="285" r:id="rId18"/>
    <p:sldId id="290" r:id="rId19"/>
    <p:sldId id="288" r:id="rId20"/>
    <p:sldId id="286" r:id="rId21"/>
    <p:sldId id="283" r:id="rId22"/>
    <p:sldId id="277" r:id="rId23"/>
    <p:sldId id="278" r:id="rId24"/>
    <p:sldId id="280" r:id="rId25"/>
    <p:sldId id="289" r:id="rId26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0D0029"/>
    <a:srgbClr val="6D0029"/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4" d="100"/>
          <a:sy n="104" d="100"/>
        </p:scale>
        <p:origin x="114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presentation\icfd2026\pres\sens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H_irop_comparison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abe_cantera_pathway_irop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Sheet2!$C$1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Sheet2!$B$2:$B$18</c:f>
              <c:strCache>
                <c:ptCount val="17"/>
                <c:pt idx="0">
                  <c:v> NH+H2&lt;=&gt;NH2+H</c:v>
                </c:pt>
                <c:pt idx="1">
                  <c:v> NH3+OH&lt;=&gt;NH2+H2O</c:v>
                </c:pt>
                <c:pt idx="2">
                  <c:v> O+H2&lt;=&gt;H+OH</c:v>
                </c:pt>
                <c:pt idx="3">
                  <c:v> H+OH+M&lt;=&gt;H2O+M</c:v>
                </c:pt>
                <c:pt idx="4">
                  <c:v> OH+H2&lt;=&gt;H+H2O</c:v>
                </c:pt>
                <c:pt idx="5">
                  <c:v> NH2+NO&lt;=&gt;NNH+OH</c:v>
                </c:pt>
                <c:pt idx="6">
                  <c:v> H+O2(+M)&lt;=&gt;HO2(+M)</c:v>
                </c:pt>
                <c:pt idx="7">
                  <c:v> NH2+NH&lt;=&gt;N2H3</c:v>
                </c:pt>
                <c:pt idx="8">
                  <c:v> NH2+NH&lt;=&gt;N2H2+H</c:v>
                </c:pt>
                <c:pt idx="9">
                  <c:v> H+O2&lt;=&gt;O+OH</c:v>
                </c:pt>
                <c:pt idx="10">
                  <c:v> H+O2+H2O&lt;=&gt;HO2+H2O</c:v>
                </c:pt>
                <c:pt idx="11">
                  <c:v> NH2+NO&lt;=&gt;NNH+OH</c:v>
                </c:pt>
                <c:pt idx="12">
                  <c:v> NNH+O2&lt;=&gt;N2+HO2</c:v>
                </c:pt>
                <c:pt idx="13">
                  <c:v> HNO+H&lt;=&gt;H2+NO</c:v>
                </c:pt>
                <c:pt idx="14">
                  <c:v> NH3+M&lt;=&gt;NH2+H+M</c:v>
                </c:pt>
                <c:pt idx="15">
                  <c:v> N2H3+H&lt;=&gt;N2H2+H2</c:v>
                </c:pt>
                <c:pt idx="16">
                  <c:v> N2H2+H&lt;=&gt;NNH+H2</c:v>
                </c:pt>
              </c:strCache>
            </c:strRef>
          </c:cat>
          <c:val>
            <c:numRef>
              <c:f>Sheet2!$C$2:$C$18</c:f>
              <c:numCache>
                <c:formatCode>0.00E+00</c:formatCode>
                <c:ptCount val="17"/>
                <c:pt idx="0">
                  <c:v>-5.9738810000000003E-2</c:v>
                </c:pt>
                <c:pt idx="1">
                  <c:v>-6.6510879999999994E-2</c:v>
                </c:pt>
                <c:pt idx="2">
                  <c:v>7.5979610000000003E-2</c:v>
                </c:pt>
                <c:pt idx="3">
                  <c:v>-9.3013079999999998E-2</c:v>
                </c:pt>
                <c:pt idx="4">
                  <c:v>9.6972559999999999E-2</c:v>
                </c:pt>
                <c:pt idx="5">
                  <c:v>0.1136576</c:v>
                </c:pt>
                <c:pt idx="6">
                  <c:v>-0.14236109999999999</c:v>
                </c:pt>
                <c:pt idx="7">
                  <c:v>-0.1838101</c:v>
                </c:pt>
                <c:pt idx="8">
                  <c:v>0.18750130000000001</c:v>
                </c:pt>
                <c:pt idx="9">
                  <c:v>0.64735739999999997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21-4A29-8BA6-83AC252619FB}"/>
            </c:ext>
          </c:extLst>
        </c:ser>
        <c:ser>
          <c:idx val="1"/>
          <c:order val="1"/>
          <c:tx>
            <c:strRef>
              <c:f>Sheet2!$D$1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Sheet2!$B$2:$B$18</c:f>
              <c:strCache>
                <c:ptCount val="17"/>
                <c:pt idx="0">
                  <c:v> NH+H2&lt;=&gt;NH2+H</c:v>
                </c:pt>
                <c:pt idx="1">
                  <c:v> NH3+OH&lt;=&gt;NH2+H2O</c:v>
                </c:pt>
                <c:pt idx="2">
                  <c:v> O+H2&lt;=&gt;H+OH</c:v>
                </c:pt>
                <c:pt idx="3">
                  <c:v> H+OH+M&lt;=&gt;H2O+M</c:v>
                </c:pt>
                <c:pt idx="4">
                  <c:v> OH+H2&lt;=&gt;H+H2O</c:v>
                </c:pt>
                <c:pt idx="5">
                  <c:v> NH2+NO&lt;=&gt;NNH+OH</c:v>
                </c:pt>
                <c:pt idx="6">
                  <c:v> H+O2(+M)&lt;=&gt;HO2(+M)</c:v>
                </c:pt>
                <c:pt idx="7">
                  <c:v> NH2+NH&lt;=&gt;N2H3</c:v>
                </c:pt>
                <c:pt idx="8">
                  <c:v> NH2+NH&lt;=&gt;N2H2+H</c:v>
                </c:pt>
                <c:pt idx="9">
                  <c:v> H+O2&lt;=&gt;O+OH</c:v>
                </c:pt>
                <c:pt idx="10">
                  <c:v> H+O2+H2O&lt;=&gt;HO2+H2O</c:v>
                </c:pt>
                <c:pt idx="11">
                  <c:v> NH2+NO&lt;=&gt;NNH+OH</c:v>
                </c:pt>
                <c:pt idx="12">
                  <c:v> NNH+O2&lt;=&gt;N2+HO2</c:v>
                </c:pt>
                <c:pt idx="13">
                  <c:v> HNO+H&lt;=&gt;H2+NO</c:v>
                </c:pt>
                <c:pt idx="14">
                  <c:v> NH3+M&lt;=&gt;NH2+H+M</c:v>
                </c:pt>
                <c:pt idx="15">
                  <c:v> N2H3+H&lt;=&gt;N2H2+H2</c:v>
                </c:pt>
                <c:pt idx="16">
                  <c:v> N2H2+H&lt;=&gt;NNH+H2</c:v>
                </c:pt>
              </c:strCache>
            </c:strRef>
          </c:cat>
          <c:val>
            <c:numRef>
              <c:f>Sheet2!$D$2:$D$18</c:f>
              <c:numCache>
                <c:formatCode>General</c:formatCode>
                <c:ptCount val="17"/>
                <c:pt idx="2" formatCode="0.00E+00">
                  <c:v>4.0894010000000001E-2</c:v>
                </c:pt>
                <c:pt idx="4" formatCode="0.00E+00">
                  <c:v>6.4593449999999997E-2</c:v>
                </c:pt>
                <c:pt idx="9" formatCode="0.00E+00">
                  <c:v>0.58300890000000005</c:v>
                </c:pt>
                <c:pt idx="10" formatCode="0.00E+00">
                  <c:v>-6.5009339999999999E-2</c:v>
                </c:pt>
                <c:pt idx="11" formatCode="0.00E+00">
                  <c:v>7.2930190000000006E-2</c:v>
                </c:pt>
                <c:pt idx="12" formatCode="0.00E+00">
                  <c:v>-3.5750829999999997E-2</c:v>
                </c:pt>
                <c:pt idx="13" formatCode="0.00E+00">
                  <c:v>-4.9167059999999999E-2</c:v>
                </c:pt>
                <c:pt idx="14" formatCode="0.00E+00">
                  <c:v>-0.1109246</c:v>
                </c:pt>
                <c:pt idx="15" formatCode="0.00E+00">
                  <c:v>-5.9401099999999998E-2</c:v>
                </c:pt>
                <c:pt idx="16" formatCode="0.00E+00">
                  <c:v>3.5393639999999997E-2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21-4A29-8BA6-83AC252619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76198031"/>
        <c:axId val="1676185071"/>
      </c:barChart>
      <c:catAx>
        <c:axId val="167619803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6185071"/>
        <c:crosses val="autoZero"/>
        <c:auto val="1"/>
        <c:lblAlgn val="ctr"/>
        <c:lblOffset val="100"/>
        <c:noMultiLvlLbl val="0"/>
      </c:catAx>
      <c:valAx>
        <c:axId val="1676185071"/>
        <c:scaling>
          <c:orientation val="minMax"/>
          <c:max val="0.70000000000000007"/>
          <c:min val="-0.30000000000000004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E+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6198031"/>
        <c:crosses val="autoZero"/>
        <c:crossBetween val="between"/>
        <c:majorUnit val="0.30000000000000004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Sheet2!$C$1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Sheet2!$C$2:$C$17</c:f>
              <c:numCache>
                <c:formatCode>General</c:formatCode>
                <c:ptCount val="16"/>
                <c:pt idx="0">
                  <c:v>-2.3429817783380272E-5</c:v>
                </c:pt>
                <c:pt idx="1">
                  <c:v>2.4935761571726701E-4</c:v>
                </c:pt>
                <c:pt idx="3">
                  <c:v>3.30768325946362E-5</c:v>
                </c:pt>
                <c:pt idx="4">
                  <c:v>2.5966644891776101E-5</c:v>
                </c:pt>
                <c:pt idx="7">
                  <c:v>-5.7800979728865942E-5</c:v>
                </c:pt>
                <c:pt idx="8">
                  <c:v>2.82801280460226E-5</c:v>
                </c:pt>
                <c:pt idx="10">
                  <c:v>2.2767326405463311E-5</c:v>
                </c:pt>
                <c:pt idx="13">
                  <c:v>4.5189356841609982E-5</c:v>
                </c:pt>
                <c:pt idx="14">
                  <c:v>1.1492789293483839E-4</c:v>
                </c:pt>
                <c:pt idx="15">
                  <c:v>2.5195766984575002E-4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A4-49E5-8CD2-6514782091F0}"/>
            </c:ext>
          </c:extLst>
        </c:ser>
        <c:ser>
          <c:idx val="1"/>
          <c:order val="1"/>
          <c:tx>
            <c:strRef>
              <c:f>Sheet2!$D$1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Sheet2!$D$2:$D$17</c:f>
              <c:numCache>
                <c:formatCode>General</c:formatCode>
                <c:ptCount val="16"/>
                <c:pt idx="1">
                  <c:v>1.5179483793546501E-4</c:v>
                </c:pt>
                <c:pt idx="2">
                  <c:v>3.4571493051250399E-5</c:v>
                </c:pt>
                <c:pt idx="5">
                  <c:v>-7.9837549573946059E-5</c:v>
                </c:pt>
                <c:pt idx="6">
                  <c:v>1.6680709599928899E-5</c:v>
                </c:pt>
                <c:pt idx="7">
                  <c:v>4.7111837496750102E-5</c:v>
                </c:pt>
                <c:pt idx="9">
                  <c:v>1.8354583960261881E-5</c:v>
                </c:pt>
                <c:pt idx="11">
                  <c:v>3.2159543098977393E-5</c:v>
                </c:pt>
                <c:pt idx="12">
                  <c:v>1.7796241703307698E-5</c:v>
                </c:pt>
                <c:pt idx="14">
                  <c:v>5.4956241772031839E-5</c:v>
                </c:pt>
                <c:pt idx="15">
                  <c:v>2.0318178959373719E-4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A4-49E5-8CD2-6514782091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0763872"/>
        <c:axId val="550752352"/>
      </c:barChart>
      <c:catAx>
        <c:axId val="5507638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52352"/>
        <c:crosses val="autoZero"/>
        <c:auto val="1"/>
        <c:lblAlgn val="ctr"/>
        <c:lblOffset val="100"/>
        <c:noMultiLvlLbl val="0"/>
      </c:catAx>
      <c:valAx>
        <c:axId val="5507523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E+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63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Sheet4!$A$48:$A$67</c:f>
              <c:strCache>
                <c:ptCount val="20"/>
                <c:pt idx="0">
                  <c:v>NNH &lt;=&gt; H + N2</c:v>
                </c:pt>
                <c:pt idx="1">
                  <c:v>NH3 + NO &lt;=&gt; HNO + NH2</c:v>
                </c:pt>
                <c:pt idx="2">
                  <c:v>NH + NH2 &lt;=&gt; N + NH3</c:v>
                </c:pt>
                <c:pt idx="3">
                  <c:v>N2H3 + NH2 &lt;=&gt; N2H2 + NH3</c:v>
                </c:pt>
                <c:pt idx="4">
                  <c:v>N2H2 + O &lt;=&gt; NNH + OH</c:v>
                </c:pt>
                <c:pt idx="5">
                  <c:v>H + NH &lt;=&gt; H2 + N</c:v>
                </c:pt>
                <c:pt idx="6">
                  <c:v>NNH + O &lt;=&gt; N2 + OH</c:v>
                </c:pt>
                <c:pt idx="7">
                  <c:v>NH3 + O &lt;=&gt; NH2 + OH</c:v>
                </c:pt>
                <c:pt idx="8">
                  <c:v>NNH + O2 &lt;=&gt; HO2 + N2</c:v>
                </c:pt>
                <c:pt idx="9">
                  <c:v>NNH + O2 &lt;=&gt; H + N2 + O2</c:v>
                </c:pt>
                <c:pt idx="10">
                  <c:v>H + NH3 &lt;=&gt; H2 + NH2</c:v>
                </c:pt>
                <c:pt idx="11">
                  <c:v>NNH + NO &lt;=&gt; HNO + N2</c:v>
                </c:pt>
                <c:pt idx="12">
                  <c:v>H + N2H2 &lt;=&gt; H2 + NNH</c:v>
                </c:pt>
                <c:pt idx="13">
                  <c:v>H2 + NH &lt;=&gt; H + NH2</c:v>
                </c:pt>
                <c:pt idx="14">
                  <c:v>N2H3 + O &lt;=&gt; N2H2 + OH</c:v>
                </c:pt>
                <c:pt idx="15">
                  <c:v>H + NNH &lt;=&gt; H2 + N2</c:v>
                </c:pt>
                <c:pt idx="16">
                  <c:v>H + N2H3 &lt;=&gt; H2 + N2H2</c:v>
                </c:pt>
                <c:pt idx="17">
                  <c:v>N + NH2 &lt;=&gt; 2 H + N2</c:v>
                </c:pt>
                <c:pt idx="18">
                  <c:v>N2H4 + OH &lt;=&gt; H2O + N2H3</c:v>
                </c:pt>
                <c:pt idx="19">
                  <c:v>H + N2H4 &lt;=&gt; H2 + N2H3</c:v>
                </c:pt>
              </c:strCache>
            </c:strRef>
          </c:cat>
          <c:val>
            <c:numRef>
              <c:f>Sheet4!$B$48:$B$67</c:f>
              <c:numCache>
                <c:formatCode>General</c:formatCode>
                <c:ptCount val="20"/>
                <c:pt idx="0">
                  <c:v>4.2413790594796241</c:v>
                </c:pt>
                <c:pt idx="1">
                  <c:v>4.3019023196825401</c:v>
                </c:pt>
                <c:pt idx="2">
                  <c:v>4.3173566497538118</c:v>
                </c:pt>
                <c:pt idx="3">
                  <c:v>4.3798348617793907</c:v>
                </c:pt>
                <c:pt idx="4">
                  <c:v>4.4404586092087985</c:v>
                </c:pt>
                <c:pt idx="5">
                  <c:v>4.5851280462976503</c:v>
                </c:pt>
                <c:pt idx="6">
                  <c:v>4.6059244764915901</c:v>
                </c:pt>
                <c:pt idx="7">
                  <c:v>4.8113539719899601</c:v>
                </c:pt>
                <c:pt idx="8">
                  <c:v>5.0155037896983687</c:v>
                </c:pt>
                <c:pt idx="9">
                  <c:v>5.1234656137906116</c:v>
                </c:pt>
                <c:pt idx="10">
                  <c:v>5.1581314372340046</c:v>
                </c:pt>
                <c:pt idx="11">
                  <c:v>5.6471261764710823</c:v>
                </c:pt>
                <c:pt idx="12">
                  <c:v>5.6723889390193802</c:v>
                </c:pt>
                <c:pt idx="13">
                  <c:v>5.6815530214515855</c:v>
                </c:pt>
                <c:pt idx="14">
                  <c:v>6.1409215845245368</c:v>
                </c:pt>
                <c:pt idx="15">
                  <c:v>7.1762479350633521</c:v>
                </c:pt>
                <c:pt idx="16">
                  <c:v>7.1864705704835048</c:v>
                </c:pt>
                <c:pt idx="17">
                  <c:v>7.5480598364296041</c:v>
                </c:pt>
                <c:pt idx="18">
                  <c:v>8.3863446849500143</c:v>
                </c:pt>
                <c:pt idx="19">
                  <c:v>14.759745258016839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3E-42E4-B209-E499B31CB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328880175"/>
        <c:axId val="328870095"/>
      </c:barChart>
      <c:catAx>
        <c:axId val="3288801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870095"/>
        <c:crosses val="autoZero"/>
        <c:auto val="1"/>
        <c:lblAlgn val="ctr"/>
        <c:lblOffset val="100"/>
        <c:noMultiLvlLbl val="0"/>
      </c:catAx>
      <c:valAx>
        <c:axId val="3288700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88017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2026/10/23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3T00:37:34.2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1,'9926'0,"-9898"0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3T00:37:41.7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0,'7392'0,"-7574"0,159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03.4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11.4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35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 60,'15519'0,"-15498"0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46.6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97 115,'15393'0,"-15372"0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17.6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1,'10255'0,"-10245"0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27.2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1,'6879'0,"-7199"0,3339 0,-2997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Gemini </a:t>
            </a:r>
            <a:r>
              <a:rPr lang="en-US" dirty="0" err="1"/>
              <a:t>img</a:t>
            </a:r>
            <a:r>
              <a:rPr lang="en-US" dirty="0"/>
              <a:t>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</a:t>
            </a:r>
            <a:r>
              <a:rPr lang="en-US" dirty="0" err="1"/>
              <a:t>img</a:t>
            </a:r>
            <a:r>
              <a:rPr lang="en-US" dirty="0"/>
              <a:t> with </a:t>
            </a:r>
            <a:r>
              <a:rPr lang="en-US" dirty="0" err="1"/>
              <a:t>okafor</a:t>
            </a:r>
            <a:r>
              <a:rPr lang="en-US" dirty="0"/>
              <a:t> mech </a:t>
            </a:r>
            <a:r>
              <a:rPr lang="en-US" dirty="0" err="1"/>
              <a:t>lbv</a:t>
            </a:r>
            <a:r>
              <a:rPr lang="en-US" dirty="0"/>
              <a:t> for NH3, NH3/CH4, NH3/H2.</a:t>
            </a:r>
          </a:p>
          <a:p>
            <a:r>
              <a:rPr lang="en-US" dirty="0"/>
              <a:t>Mention the motivation for the study is why H2 sub mech in </a:t>
            </a:r>
            <a:r>
              <a:rPr lang="en-US" dirty="0" err="1"/>
              <a:t>okafor</a:t>
            </a:r>
            <a:r>
              <a:rPr lang="en-US" dirty="0"/>
              <a:t> incompatible for NH3/H2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1 should be about studying NH3/H2 flame chemistry.</a:t>
            </a:r>
          </a:p>
          <a:p>
            <a:r>
              <a:rPr lang="en-US" dirty="0"/>
              <a:t>Mention the current study focuses on </a:t>
            </a:r>
            <a:r>
              <a:rPr lang="en-US" dirty="0" err="1"/>
              <a:t>lbv</a:t>
            </a:r>
            <a:r>
              <a:rPr lang="en-US" dirty="0"/>
              <a:t>. This is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974514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xH2=0.5 selected as </a:t>
            </a:r>
            <a:r>
              <a:rPr lang="en-US" dirty="0" err="1"/>
              <a:t>lbv</a:t>
            </a:r>
            <a:r>
              <a:rPr lang="en-US" dirty="0"/>
              <a:t> underprediction is very high at this concentration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up by removing labels and unnecessary paths and nodes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075043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Recheck the status of the last 2 reactions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32518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72227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Mention xH2=xCH4=0.5</a:t>
                </a:r>
              </a:p>
              <a:p>
                <a:r>
                  <a:rPr lang="en-US" dirty="0"/>
                  <a:t>Include NH3/H2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US" dirty="0"/>
                  <a:t> NH3 plot</a:t>
                </a:r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Mention xH2=xCH4=0.5</a:t>
                </a:r>
              </a:p>
              <a:p>
                <a:r>
                  <a:rPr lang="en-US" dirty="0"/>
                  <a:t>Include NH3/H2 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÷</a:t>
                </a:r>
                <a:r>
                  <a:rPr lang="en-US" dirty="0"/>
                  <a:t> NH3 plot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39769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customXml" Target="../ink/ink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customXml" Target="../ink/ink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4.xml"/><Relationship Id="rId10" Type="http://schemas.openxmlformats.org/officeDocument/2006/relationships/customXml" Target="../ink/ink8.xml"/><Relationship Id="rId4" Type="http://schemas.openxmlformats.org/officeDocument/2006/relationships/image" Target="../media/image190.png"/><Relationship Id="rId9" Type="http://schemas.openxmlformats.org/officeDocument/2006/relationships/customXml" Target="../ink/ink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customXml" Target="../ink/ink10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customXml" Target="../ink/ink1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5040560"/>
          </a:xfrm>
        </p:spPr>
        <p:txBody>
          <a:bodyPr anchor="ctr"/>
          <a:lstStyle/>
          <a:p>
            <a:r>
              <a:rPr lang="en-GB" sz="2000" dirty="0"/>
              <a:t>Ammonia combustion is a growing area of research as a carbon-free alternative to traditional fuels.</a:t>
            </a:r>
          </a:p>
          <a:p>
            <a:endParaRPr lang="en-GB" sz="2000" dirty="0"/>
          </a:p>
          <a:p>
            <a:r>
              <a:rPr lang="en-GB" sz="2000" dirty="0"/>
              <a:t>Numerically simulating ammonia blends is necessary for studying combustion properties and developing combustion systems.</a:t>
            </a:r>
          </a:p>
          <a:p>
            <a:endParaRPr lang="en-GB" sz="2000" dirty="0"/>
          </a:p>
          <a:p>
            <a:r>
              <a:rPr lang="en-GB" sz="2000" dirty="0"/>
              <a:t>Large-scale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268760"/>
            <a:ext cx="5760591" cy="4777682"/>
          </a:xfrm>
        </p:spPr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endParaRPr lang="en-US" dirty="0"/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AB77F8-CD44-7B97-8127-2391D52BE4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" r="139"/>
          <a:stretch/>
        </p:blipFill>
        <p:spPr>
          <a:xfrm>
            <a:off x="6456040" y="1412776"/>
            <a:ext cx="5472608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700808"/>
            <a:ext cx="11233150" cy="4345634"/>
          </a:xfrm>
        </p:spPr>
        <p:txBody>
          <a:bodyPr/>
          <a:lstStyle/>
          <a:p>
            <a:r>
              <a:rPr lang="en-US" dirty="0"/>
              <a:t>Develop a reduced kinetic mechanism optimized for NH3, NH3/CH4 and NH3/H2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is developed to model laminar burning velocities of NH3/air and NH3/CH4/air flames accurately.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425" y="2276872"/>
                <a:ext cx="11233150" cy="3769570"/>
              </a:xfrm>
            </p:spPr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425" y="2276872"/>
                <a:ext cx="11233150" cy="3769570"/>
              </a:xfrm>
              <a:blipFill>
                <a:blip r:embed="rId3"/>
                <a:stretch>
                  <a:fillRect l="-1683" t="-27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Experimental Data-points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of NH3/H2/air Flames</a:t>
                </a: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52" t="-20968" b="-45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</p:spPr>
            <p:txBody>
              <a:bodyPr/>
              <a:lstStyle/>
              <a:p>
                <a:r>
                  <a:rPr lang="en-US" sz="2400" dirty="0"/>
                  <a:t>Most experimental data available at 1 atm of pressure</a:t>
                </a:r>
              </a:p>
              <a:p>
                <a:r>
                  <a:rPr lang="en-US" sz="2400" dirty="0"/>
                  <a:t>Stoichiometric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sz="2400" dirty="0"/>
                  <a:t> equivalence ratio has the most data points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To evaluate reaction mechanisms pressure of 1 atm and equivalence ratio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 selected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  <a:blipFill>
                <a:blip r:embed="rId3"/>
                <a:stretch>
                  <a:fillRect l="-3273" t="-2026" r="-48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61495E0-5FEF-6D91-432C-53DD2370880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38660"/>
            <a:ext cx="5616575" cy="421243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4A413-AB19-7DFC-9AB9-3F8D3BCDFB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5311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Footer Placeholder 2">
                <a:extLst>
                  <a:ext uri="{FF2B5EF4-FFF2-40B4-BE49-F238E27FC236}">
                    <a16:creationId xmlns:a16="http://schemas.microsoft.com/office/drawing/2014/main" id="{4D49CD3F-DDEB-35F0-1590-B4BEAB7342DB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Numerical vs Experimental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US" altLang="ja-JP" dirty="0"/>
              </a:p>
            </p:txBody>
          </p:sp>
        </mc:Choice>
        <mc:Fallback>
          <p:sp>
            <p:nvSpPr>
              <p:cNvPr id="3" name="Footer Placeholder 2">
                <a:extLst>
                  <a:ext uri="{FF2B5EF4-FFF2-40B4-BE49-F238E27FC236}">
                    <a16:creationId xmlns:a16="http://schemas.microsoft.com/office/drawing/2014/main" id="{4D49CD3F-DDEB-35F0-1590-B4BEAB7342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2903" b="-5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analyses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Analysis of Chemical Kinetics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8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1755D35-0882-2892-EDC3-2C38FA048C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Sensitivity Analysis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1755D35-0882-2892-EDC3-2C38FA04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52" t="-20968" b="-451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85168-58FB-1112-CF5A-7342CACFB0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425" y="1144205"/>
                <a:ext cx="5184527" cy="5024629"/>
              </a:xfrm>
            </p:spPr>
            <p:txBody>
              <a:bodyPr anchor="ctr" anchorCtr="0"/>
              <a:lstStyle/>
              <a:p>
                <a:r>
                  <a:rPr lang="en-GB" sz="2400" dirty="0"/>
                  <a:t>Reactions containing N2Hx species are among the most significant reactions in relation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sz="2400" dirty="0"/>
                  <a:t> in mechanisms optimized for NH3/H2/air flames.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85168-58FB-1112-CF5A-7342CACFB0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425" y="1144205"/>
                <a:ext cx="5184527" cy="5024629"/>
              </a:xfrm>
              <a:blipFill>
                <a:blip r:embed="rId3"/>
                <a:stretch>
                  <a:fillRect l="-3412" r="-4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97EE0-084F-6EA8-1F3A-C452D92042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58D5A74-6250-8FD2-B225-91594B981A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4540270"/>
              </p:ext>
            </p:extLst>
          </p:nvPr>
        </p:nvGraphicFramePr>
        <p:xfrm>
          <a:off x="5951984" y="1145286"/>
          <a:ext cx="6066756" cy="5024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61DD43E-18F0-408E-A593-9D5FB5F959D9}"/>
                  </a:ext>
                </a:extLst>
              </p14:cNvPr>
              <p14:cNvContentPartPr/>
              <p14:nvPr/>
            </p14:nvContentPartPr>
            <p14:xfrm>
              <a:off x="6345189" y="3394156"/>
              <a:ext cx="358380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61DD43E-18F0-408E-A593-9D5FB5F959D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91549" y="3286516"/>
                <a:ext cx="36914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6798746-6E72-179F-E615-3AC42C747435}"/>
                  </a:ext>
                </a:extLst>
              </p14:cNvPr>
              <p14:cNvContentPartPr/>
              <p14:nvPr/>
            </p14:nvContentPartPr>
            <p14:xfrm>
              <a:off x="6539229" y="3643636"/>
              <a:ext cx="2661480" cy="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6798746-6E72-179F-E615-3AC42C74743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85229" y="3535636"/>
                <a:ext cx="276912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4608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79715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328248" y="4293096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BD3651-E13A-1FD5-23B8-7AEE3B2BE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138" y="2708920"/>
            <a:ext cx="3997977" cy="2779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217A2B-2FAC-4B49-C4A1-30D2A50A0B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1504" y="2708920"/>
            <a:ext cx="3822706" cy="27794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B1AFBF0-4DA6-69A2-B5E5-96B64647CE00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C711F-F307-38DF-6B2A-6C0EA014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266D2-F1EB-ADBD-F246-EA7ADF83E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  <a:p>
                <a:r>
                  <a:rPr lang="en-GB" dirty="0"/>
                  <a:t>Present Mech was updated to model these pathways more accurately.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1311-A640-6293-7A2A-3A592BC489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88497410"/>
                  </p:ext>
                </p:extLst>
              </p:nvPr>
            </p:nvGraphicFramePr>
            <p:xfrm>
              <a:off x="1134745" y="3140968"/>
              <a:ext cx="9922510" cy="26517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88497410"/>
                  </p:ext>
                </p:extLst>
              </p:nvPr>
            </p:nvGraphicFramePr>
            <p:xfrm>
              <a:off x="1134745" y="3140968"/>
              <a:ext cx="9922510" cy="26517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59333" t="-108333" r="-7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9333" t="-108333" r="-6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59333" t="-108333" r="-5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55629" t="-108333" r="-424503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60000" t="-108333" r="-327333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60000" t="-108333" r="-227333" b="-54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965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A59-67D8-3660-3A95-60D27C2A7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F32B-8040-37A7-5F74-D94E20509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51C4D-B2BB-95DC-2F57-DB21F7575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N2H2 formed contributes to the formation of NNH</a:t>
            </a:r>
          </a:p>
          <a:p>
            <a:pPr lvl="1"/>
            <a:r>
              <a:rPr lang="en-GB" dirty="0"/>
              <a:t>Primarily through the decomposition of N2H2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DA47E-D996-79A2-47F5-81035756BA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6329D7-13CB-D24A-CB11-F68CFD0A5E7A}"/>
              </a:ext>
            </a:extLst>
          </p:cNvPr>
          <p:cNvGrpSpPr/>
          <p:nvPr/>
        </p:nvGrpSpPr>
        <p:grpSpPr>
          <a:xfrm>
            <a:off x="1893427" y="2204864"/>
            <a:ext cx="8667069" cy="4480770"/>
            <a:chOff x="1893427" y="2204864"/>
            <a:chExt cx="8667069" cy="4480770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A59D35AD-FABC-C80D-1E76-37E387A0530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18389637"/>
                </p:ext>
              </p:extLst>
            </p:nvPr>
          </p:nvGraphicFramePr>
          <p:xfrm>
            <a:off x="1893428" y="2204864"/>
            <a:ext cx="8667068" cy="448077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14:cNvPr>
                <p14:cNvContentPartPr/>
                <p14:nvPr/>
              </p14:nvContentPartPr>
              <p14:xfrm>
                <a:off x="1893429" y="5889316"/>
                <a:ext cx="826092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9" y="578131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14:cNvPr>
                <p14:cNvContentPartPr/>
                <p14:nvPr/>
              </p14:nvContentPartPr>
              <p14:xfrm>
                <a:off x="1893428" y="5804904"/>
                <a:ext cx="8260921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8" y="569726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14:cNvPr>
                <p14:cNvContentPartPr/>
                <p14:nvPr/>
              </p14:nvContentPartPr>
              <p14:xfrm>
                <a:off x="1893428" y="4521524"/>
                <a:ext cx="826092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413524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14:cNvPr>
                <p14:cNvContentPartPr/>
                <p14:nvPr/>
              </p14:nvContentPartPr>
              <p14:xfrm>
                <a:off x="1893427" y="4437112"/>
                <a:ext cx="8260921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329472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14:cNvPr>
                <p14:cNvContentPartPr/>
                <p14:nvPr/>
              </p14:nvContentPartPr>
              <p14:xfrm>
                <a:off x="1893428" y="4883506"/>
                <a:ext cx="826092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77550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14:cNvPr>
                <p14:cNvContentPartPr/>
                <p14:nvPr/>
              </p14:nvContentPartPr>
              <p14:xfrm>
                <a:off x="1893427" y="4799094"/>
                <a:ext cx="8260921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69145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3166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AB6C-0B2B-810F-6064-CCE19A028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5C36B-7265-9830-2A07-8939B614F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Mech was updated with rate constants below to model these pathways.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3084A-C599-C830-74F8-5062579EA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8667" t="-108333" r="-7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8667" t="-108333" r="-6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58667" t="-108333" r="-5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54967" t="-108333" r="-42450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59333" t="-108333" r="-32733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333" t="-108333" r="-227333" b="-323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14205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ABC7E-F827-763C-963C-6102CEC8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F19FE-C83C-A011-B206-33C99CEF4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18AF9-0576-3FD1-E327-3BF880C4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NNH is consumed primarily through its decomposition to produce H radicals.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BAE66-EC9A-0810-E1DD-7263DCA6C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15</a:t>
            </a:fld>
            <a:endParaRPr lang="en-US" altLang="ja-JP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B111F47-4E71-37FE-C84B-8E590619E60D}"/>
              </a:ext>
            </a:extLst>
          </p:cNvPr>
          <p:cNvGrpSpPr/>
          <p:nvPr/>
        </p:nvGrpSpPr>
        <p:grpSpPr>
          <a:xfrm>
            <a:off x="1883532" y="2201394"/>
            <a:ext cx="8424936" cy="4484240"/>
            <a:chOff x="1631504" y="1933106"/>
            <a:chExt cx="8928992" cy="4752528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4808A1D5-4C20-27E0-2F89-F4A3A759A0B2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5449632"/>
                </p:ext>
              </p:extLst>
            </p:nvPr>
          </p:nvGraphicFramePr>
          <p:xfrm>
            <a:off x="1631504" y="1933106"/>
            <a:ext cx="8928992" cy="4752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14:cNvPr>
                <p14:cNvContentPartPr/>
                <p14:nvPr/>
              </p14:nvContentPartPr>
              <p14:xfrm>
                <a:off x="2447469" y="2277796"/>
                <a:ext cx="59295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90238" y="2169796"/>
                  <a:ext cx="604364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14:cNvPr>
                <p14:cNvContentPartPr/>
                <p14:nvPr/>
              </p14:nvContentPartPr>
              <p14:xfrm>
                <a:off x="2469208" y="2184916"/>
                <a:ext cx="5881429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1977" y="2076916"/>
                  <a:ext cx="5995509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15918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83C8-EC53-9D22-2941-0A55386CE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A5E5-3C5B-8E7D-8FE9-99884AAB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F2678-643E-2B99-9A81-5CCE23D17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Increased formation of NNH yields an increased contribution to H radical production.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0EDB7-6861-4027-6EF8-00A2A76DC0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16</a:t>
            </a:fld>
            <a:endParaRPr lang="en-US" altLang="ja-JP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441FDEE-6FF7-2012-6AA0-79ADF800A0CB}"/>
              </a:ext>
            </a:extLst>
          </p:cNvPr>
          <p:cNvGrpSpPr/>
          <p:nvPr/>
        </p:nvGrpSpPr>
        <p:grpSpPr>
          <a:xfrm>
            <a:off x="2375586" y="2113384"/>
            <a:ext cx="7440828" cy="4464496"/>
            <a:chOff x="2375586" y="2113384"/>
            <a:chExt cx="7440828" cy="4464496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BB5C1375-6BBA-5ECF-49E0-29ACC89EC55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0789350"/>
                </p:ext>
              </p:extLst>
            </p:nvPr>
          </p:nvGraphicFramePr>
          <p:xfrm>
            <a:off x="2375586" y="2113384"/>
            <a:ext cx="7440828" cy="446449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14:cNvPr>
                <p14:cNvContentPartPr/>
                <p14:nvPr/>
              </p14:nvContentPartPr>
              <p14:xfrm>
                <a:off x="2999088" y="2857392"/>
                <a:ext cx="369576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45088" y="2749752"/>
                  <a:ext cx="3803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14:cNvPr>
                <p14:cNvContentPartPr/>
                <p14:nvPr/>
              </p14:nvContentPartPr>
              <p14:xfrm>
                <a:off x="2541888" y="4896432"/>
                <a:ext cx="3456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87888" y="4788792"/>
                  <a:ext cx="3564000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5104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711D7-0C8E-DBA0-6759-E1FF245BD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Updates in Present Mechanism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8667" t="-108333" r="-7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58667" t="-108333" r="-6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8667" t="-108333" r="-5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54967" t="-108333" r="-42450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9333" t="-108333" r="-32733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59333" t="-108333" r="-227333" b="-114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156AE-9E5F-AE69-E197-65877A13FF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93494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18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D2278-8799-F402-4490-3600455AE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C7804-0335-EAE7-6468-C2ED8AEAD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268760"/>
            <a:ext cx="5616575" cy="4777682"/>
          </a:xfrm>
        </p:spPr>
        <p:txBody>
          <a:bodyPr anchor="ctr" anchorCtr="0"/>
          <a:lstStyle/>
          <a:p>
            <a:r>
              <a:rPr lang="en-US" dirty="0"/>
              <a:t>IROP of reactions in NH3/H2 flame were divided with IROP of the same reactions in NH3/CH4 flame.</a:t>
            </a:r>
          </a:p>
          <a:p>
            <a:pPr lvl="1"/>
            <a:r>
              <a:rPr lang="en-US" dirty="0"/>
              <a:t>20 highest magnitudes are plotted.</a:t>
            </a:r>
          </a:p>
          <a:p>
            <a:pPr lvl="1"/>
            <a:endParaRPr lang="en-US" dirty="0"/>
          </a:p>
          <a:p>
            <a:r>
              <a:rPr lang="en-US" dirty="0"/>
              <a:t>Depicts reactions containing N2Hx species are more significant in an NH3/H2 flame.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F652D-2709-175C-CC3C-68F6A7220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21</a:t>
            </a:fld>
            <a:endParaRPr lang="en-US" altLang="ja-JP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60B9A9A-AE44-04E8-DA45-97FBFDD3F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79579473"/>
              </p:ext>
            </p:extLst>
          </p:nvPr>
        </p:nvGraphicFramePr>
        <p:xfrm>
          <a:off x="6157674" y="1736812"/>
          <a:ext cx="5640626" cy="3384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404DCB-9553-9C5E-5DE5-40F58929193C}"/>
                  </a:ext>
                </a:extLst>
              </p:cNvPr>
              <p:cNvSpPr txBox="1"/>
              <p:nvPr/>
            </p:nvSpPr>
            <p:spPr>
              <a:xfrm>
                <a:off x="8001598" y="5256786"/>
                <a:ext cx="1952779" cy="9085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IRO</m:t>
                          </m:r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IRO</m:t>
                          </m:r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404DCB-9553-9C5E-5DE5-40F589291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598" y="5256786"/>
                <a:ext cx="1952779" cy="9085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4389990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3944</TotalTime>
  <Words>1670</Words>
  <Application>Microsoft Office PowerPoint</Application>
  <PresentationFormat>Widescreen</PresentationFormat>
  <Paragraphs>311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 Narrow</vt:lpstr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Experimental Data-points for S_L of NH3/H2/air Flames</vt:lpstr>
      <vt:lpstr>PowerPoint Presentation</vt:lpstr>
      <vt:lpstr>PowerPoint Presentation</vt:lpstr>
      <vt:lpstr>Sensitivity Analysis of S_L</vt:lpstr>
      <vt:lpstr>PowerPoint Presentation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Updates in Present Mechanism</vt:lpstr>
      <vt:lpstr>PowerPoint Presentation</vt:lpstr>
      <vt:lpstr>Validation – NH3/H2/air</vt:lpstr>
      <vt:lpstr>Validation – NH3/CH4/air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108</cp:revision>
  <cp:lastPrinted>2013-02-26T06:20:36Z</cp:lastPrinted>
  <dcterms:created xsi:type="dcterms:W3CDTF">2007-10-25T08:30:33Z</dcterms:created>
  <dcterms:modified xsi:type="dcterms:W3CDTF">2026-10-23T03:14:43Z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