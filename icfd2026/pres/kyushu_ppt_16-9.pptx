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ink/ink7.xml" ContentType="application/inkml+xml"/>
  <Override PartName="/ppt/ink/ink8.xml" ContentType="application/inkml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ink/ink9.xml" ContentType="application/inkml+xml"/>
  <Override PartName="/ppt/ink/ink10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60" r:id="rId5"/>
    <p:sldId id="262" r:id="rId6"/>
    <p:sldId id="270" r:id="rId7"/>
    <p:sldId id="263" r:id="rId8"/>
    <p:sldId id="271" r:id="rId9"/>
    <p:sldId id="266" r:id="rId10"/>
    <p:sldId id="284" r:id="rId11"/>
    <p:sldId id="272" r:id="rId12"/>
    <p:sldId id="274" r:id="rId13"/>
    <p:sldId id="273" r:id="rId14"/>
    <p:sldId id="275" r:id="rId15"/>
    <p:sldId id="281" r:id="rId16"/>
    <p:sldId id="287" r:id="rId17"/>
    <p:sldId id="285" r:id="rId18"/>
    <p:sldId id="290" r:id="rId19"/>
    <p:sldId id="288" r:id="rId20"/>
    <p:sldId id="286" r:id="rId21"/>
    <p:sldId id="283" r:id="rId22"/>
    <p:sldId id="277" r:id="rId23"/>
    <p:sldId id="278" r:id="rId24"/>
    <p:sldId id="280" r:id="rId25"/>
    <p:sldId id="289" r:id="rId26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0D0029"/>
    <a:srgbClr val="6D0029"/>
    <a:srgbClr val="8502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89805" autoAdjust="0"/>
  </p:normalViewPr>
  <p:slideViewPr>
    <p:cSldViewPr showGuides="1">
      <p:cViewPr>
        <p:scale>
          <a:sx n="100" d="100"/>
          <a:sy n="100" d="100"/>
        </p:scale>
        <p:origin x="60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NNH_irop_comparis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NNH_irop_comparison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H_irop_comparison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2.5966644891776111E-5</c:v>
                </c:pt>
                <c:pt idx="1">
                  <c:v>5.5731784667542734E-7</c:v>
                </c:pt>
                <c:pt idx="2">
                  <c:v>2.7723189417490372E-7</c:v>
                </c:pt>
                <c:pt idx="3">
                  <c:v>2.088139530090735E-6</c:v>
                </c:pt>
                <c:pt idx="4">
                  <c:v>2.0986213910154019E-6</c:v>
                </c:pt>
                <c:pt idx="5">
                  <c:v>1.2587541882385521E-5</c:v>
                </c:pt>
                <c:pt idx="6" formatCode="0.00E+00">
                  <c:v>1.0951136365138801E-6</c:v>
                </c:pt>
                <c:pt idx="8">
                  <c:v>5.6729326926122485E-7</c:v>
                </c:pt>
                <c:pt idx="9" formatCode="0.00E+00">
                  <c:v>-2.2900205097581799E-6</c:v>
                </c:pt>
                <c:pt idx="10">
                  <c:v>-4.5189356841609982E-5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AB-4ACC-A456-98BAFBBBDB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8.3124104602345651E-6</c:v>
                </c:pt>
                <c:pt idx="3">
                  <c:v>1.2241952965931151E-6</c:v>
                </c:pt>
                <c:pt idx="4">
                  <c:v>1.1700379112220069E-6</c:v>
                </c:pt>
                <c:pt idx="5">
                  <c:v>7.6920087213263838E-6</c:v>
                </c:pt>
                <c:pt idx="6" formatCode="0.00E+00">
                  <c:v>2.1068459120273401E-6</c:v>
                </c:pt>
                <c:pt idx="7" formatCode="0.00E+00">
                  <c:v>8.4939645528436207E-6</c:v>
                </c:pt>
                <c:pt idx="8">
                  <c:v>5.9496351187586574E-7</c:v>
                </c:pt>
                <c:pt idx="9" formatCode="0.00E+00">
                  <c:v>-1.86031616392256E-6</c:v>
                </c:pt>
                <c:pt idx="10">
                  <c:v>-1.025310337946293E-5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DAB-4ACC-A456-98BAFBBBDB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58492576"/>
        <c:axId val="558493056"/>
      </c:barChart>
      <c:catAx>
        <c:axId val="5584925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3056"/>
        <c:crosses val="autoZero"/>
        <c:auto val="1"/>
        <c:lblAlgn val="ctr"/>
        <c:lblOffset val="100"/>
        <c:noMultiLvlLbl val="0"/>
      </c:catAx>
      <c:valAx>
        <c:axId val="5584930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2.5966644891776111E-5</c:v>
                </c:pt>
                <c:pt idx="1">
                  <c:v>5.5731784667542734E-7</c:v>
                </c:pt>
                <c:pt idx="2">
                  <c:v>2.7723189417490372E-7</c:v>
                </c:pt>
                <c:pt idx="3">
                  <c:v>2.088139530090735E-6</c:v>
                </c:pt>
                <c:pt idx="4">
                  <c:v>2.0986213910154019E-6</c:v>
                </c:pt>
                <c:pt idx="5">
                  <c:v>1.2587541882385521E-5</c:v>
                </c:pt>
                <c:pt idx="6" formatCode="0.00E+00">
                  <c:v>1.0951136365138801E-6</c:v>
                </c:pt>
                <c:pt idx="8">
                  <c:v>5.6729326926122485E-7</c:v>
                </c:pt>
                <c:pt idx="9" formatCode="0.00E+00">
                  <c:v>-2.2900205097581799E-6</c:v>
                </c:pt>
                <c:pt idx="10">
                  <c:v>-4.5189356841609982E-5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AB-4ACC-A456-98BAFBBBDB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8.3124104602345651E-6</c:v>
                </c:pt>
                <c:pt idx="3">
                  <c:v>1.2241952965931151E-6</c:v>
                </c:pt>
                <c:pt idx="4">
                  <c:v>1.1700379112220069E-6</c:v>
                </c:pt>
                <c:pt idx="5">
                  <c:v>7.6920087213263838E-6</c:v>
                </c:pt>
                <c:pt idx="6" formatCode="0.00E+00">
                  <c:v>2.1068459120273401E-6</c:v>
                </c:pt>
                <c:pt idx="7" formatCode="0.00E+00">
                  <c:v>8.4939645528436207E-6</c:v>
                </c:pt>
                <c:pt idx="8">
                  <c:v>5.9496351187586574E-7</c:v>
                </c:pt>
                <c:pt idx="9" formatCode="0.00E+00">
                  <c:v>-1.86031616392256E-6</c:v>
                </c:pt>
                <c:pt idx="10">
                  <c:v>-1.025310337946293E-5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DAB-4ACC-A456-98BAFBBBDB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58492576"/>
        <c:axId val="558493056"/>
      </c:barChart>
      <c:catAx>
        <c:axId val="5584925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3056"/>
        <c:crosses val="autoZero"/>
        <c:auto val="1"/>
        <c:lblAlgn val="ctr"/>
        <c:lblOffset val="100"/>
        <c:noMultiLvlLbl val="0"/>
      </c:catAx>
      <c:valAx>
        <c:axId val="5584930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Sheet2!$C$1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Sheet2!$B$2:$B$17</c:f>
              <c:strCache>
                <c:ptCount val="16"/>
                <c:pt idx="0">
                  <c:v>2NH2&lt;=&gt;N2H3+H</c:v>
                </c:pt>
                <c:pt idx="1">
                  <c:v>O+OH&lt;=&gt;H+O2</c:v>
                </c:pt>
                <c:pt idx="2">
                  <c:v>H2+NO&lt;=&gt;HNO+H</c:v>
                </c:pt>
                <c:pt idx="3">
                  <c:v>NO+H2&lt;=&gt;HNO+H</c:v>
                </c:pt>
                <c:pt idx="4">
                  <c:v>NNH+H2&lt;=&gt;N2H2+H</c:v>
                </c:pt>
                <c:pt idx="5">
                  <c:v>N2H3+M&lt;=&gt;N2H2+H+M</c:v>
                </c:pt>
                <c:pt idx="6">
                  <c:v>N2+OH&lt;=&gt;N2O+H</c:v>
                </c:pt>
                <c:pt idx="7">
                  <c:v>NH+H2&lt;=&gt;NH2+H</c:v>
                </c:pt>
                <c:pt idx="8">
                  <c:v>N+H2&lt;=&gt;NH+H</c:v>
                </c:pt>
                <c:pt idx="9">
                  <c:v>NH+NO&lt;=&gt;N2O+H</c:v>
                </c:pt>
                <c:pt idx="10">
                  <c:v>NH2+NH&lt;=&gt;N2H2+H</c:v>
                </c:pt>
                <c:pt idx="11">
                  <c:v>NH2+O&lt;=&gt;HNO+H</c:v>
                </c:pt>
                <c:pt idx="12">
                  <c:v>NH2+H2&lt;=&gt;NH3+H</c:v>
                </c:pt>
                <c:pt idx="13">
                  <c:v>NNH&lt;=&gt;N2+H</c:v>
                </c:pt>
                <c:pt idx="14">
                  <c:v>O+H2&lt;=&gt;H+OH</c:v>
                </c:pt>
                <c:pt idx="15">
                  <c:v>OH+H2&lt;=&gt;H+H2O</c:v>
                </c:pt>
              </c:strCache>
            </c:strRef>
          </c:cat>
          <c:val>
            <c:numRef>
              <c:f>Sheet2!$C$2:$C$17</c:f>
              <c:numCache>
                <c:formatCode>General</c:formatCode>
                <c:ptCount val="16"/>
                <c:pt idx="0">
                  <c:v>-2.3429817783380272E-5</c:v>
                </c:pt>
                <c:pt idx="1">
                  <c:v>2.4935761571726701E-4</c:v>
                </c:pt>
                <c:pt idx="3">
                  <c:v>3.30768325946362E-5</c:v>
                </c:pt>
                <c:pt idx="4">
                  <c:v>2.5966644891776101E-5</c:v>
                </c:pt>
                <c:pt idx="7">
                  <c:v>-5.7800979728865942E-5</c:v>
                </c:pt>
                <c:pt idx="8">
                  <c:v>2.82801280460226E-5</c:v>
                </c:pt>
                <c:pt idx="10">
                  <c:v>2.2767326405463311E-5</c:v>
                </c:pt>
                <c:pt idx="13">
                  <c:v>4.5189356841609982E-5</c:v>
                </c:pt>
                <c:pt idx="14">
                  <c:v>1.1492789293483839E-4</c:v>
                </c:pt>
                <c:pt idx="15">
                  <c:v>2.5195766984575002E-4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A4-49E5-8CD2-6514782091F0}"/>
            </c:ext>
          </c:extLst>
        </c:ser>
        <c:ser>
          <c:idx val="1"/>
          <c:order val="1"/>
          <c:tx>
            <c:strRef>
              <c:f>Sheet2!$D$1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Sheet2!$B$2:$B$17</c:f>
              <c:strCache>
                <c:ptCount val="16"/>
                <c:pt idx="0">
                  <c:v>2NH2&lt;=&gt;N2H3+H</c:v>
                </c:pt>
                <c:pt idx="1">
                  <c:v>O+OH&lt;=&gt;H+O2</c:v>
                </c:pt>
                <c:pt idx="2">
                  <c:v>H2+NO&lt;=&gt;HNO+H</c:v>
                </c:pt>
                <c:pt idx="3">
                  <c:v>NO+H2&lt;=&gt;HNO+H</c:v>
                </c:pt>
                <c:pt idx="4">
                  <c:v>NNH+H2&lt;=&gt;N2H2+H</c:v>
                </c:pt>
                <c:pt idx="5">
                  <c:v>N2H3+M&lt;=&gt;N2H2+H+M</c:v>
                </c:pt>
                <c:pt idx="6">
                  <c:v>N2+OH&lt;=&gt;N2O+H</c:v>
                </c:pt>
                <c:pt idx="7">
                  <c:v>NH+H2&lt;=&gt;NH2+H</c:v>
                </c:pt>
                <c:pt idx="8">
                  <c:v>N+H2&lt;=&gt;NH+H</c:v>
                </c:pt>
                <c:pt idx="9">
                  <c:v>NH+NO&lt;=&gt;N2O+H</c:v>
                </c:pt>
                <c:pt idx="10">
                  <c:v>NH2+NH&lt;=&gt;N2H2+H</c:v>
                </c:pt>
                <c:pt idx="11">
                  <c:v>NH2+O&lt;=&gt;HNO+H</c:v>
                </c:pt>
                <c:pt idx="12">
                  <c:v>NH2+H2&lt;=&gt;NH3+H</c:v>
                </c:pt>
                <c:pt idx="13">
                  <c:v>NNH&lt;=&gt;N2+H</c:v>
                </c:pt>
                <c:pt idx="14">
                  <c:v>O+H2&lt;=&gt;H+OH</c:v>
                </c:pt>
                <c:pt idx="15">
                  <c:v>OH+H2&lt;=&gt;H+H2O</c:v>
                </c:pt>
              </c:strCache>
            </c:strRef>
          </c:cat>
          <c:val>
            <c:numRef>
              <c:f>Sheet2!$D$2:$D$17</c:f>
              <c:numCache>
                <c:formatCode>General</c:formatCode>
                <c:ptCount val="16"/>
                <c:pt idx="1">
                  <c:v>1.5179483793546501E-4</c:v>
                </c:pt>
                <c:pt idx="2">
                  <c:v>3.4571493051250399E-5</c:v>
                </c:pt>
                <c:pt idx="5">
                  <c:v>-7.9837549573946059E-5</c:v>
                </c:pt>
                <c:pt idx="6">
                  <c:v>1.6680709599928899E-5</c:v>
                </c:pt>
                <c:pt idx="7">
                  <c:v>4.7111837496750102E-5</c:v>
                </c:pt>
                <c:pt idx="9">
                  <c:v>1.8354583960261881E-5</c:v>
                </c:pt>
                <c:pt idx="11">
                  <c:v>3.2159543098977393E-5</c:v>
                </c:pt>
                <c:pt idx="12">
                  <c:v>1.7796241703307698E-5</c:v>
                </c:pt>
                <c:pt idx="14">
                  <c:v>5.4956241772031839E-5</c:v>
                </c:pt>
                <c:pt idx="15">
                  <c:v>2.0318178959373719E-4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A4-49E5-8CD2-6514782091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50763872"/>
        <c:axId val="550752352"/>
      </c:barChart>
      <c:catAx>
        <c:axId val="5507638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0752352"/>
        <c:crosses val="autoZero"/>
        <c:auto val="1"/>
        <c:lblAlgn val="ctr"/>
        <c:lblOffset val="100"/>
        <c:noMultiLvlLbl val="0"/>
      </c:catAx>
      <c:valAx>
        <c:axId val="5507523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E+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0763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2026/10/22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8:03.4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0,'22946'0,"-23482"0,500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8:11.4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1,'22928'0,"-22910"0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2:56.2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0,'22946'0,"-23482"0,500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2:56.27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1,'22928'0,"-22910"0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3:06.19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0,'22946'0,"-23482"0,500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3:06.1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1,'22928'0,"-22910"0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9:35.0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59 60,'15519'0,"-15498"0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9:46.64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97 115,'15393'0,"-15372"0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26:17.6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1,'10255'0,"-10245"0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26:27.2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1,'6879'0,"-7199"0,3339 0,-2997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 dirty="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importance of ammonia combustion simulation</a:t>
            </a:r>
          </a:p>
          <a:p>
            <a:r>
              <a:rPr lang="en-US" dirty="0"/>
              <a:t>	for emission control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Lesser whitespace</a:t>
            </a:r>
          </a:p>
          <a:p>
            <a:r>
              <a:rPr lang="en-US" dirty="0"/>
              <a:t>Figures relevant to talking points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 images; unclear as to what the image represents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247173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Okafor mech fails nh3/h2 </a:t>
            </a:r>
            <a:r>
              <a:rPr lang="en-US" dirty="0" err="1"/>
              <a:t>lbv</a:t>
            </a:r>
            <a:r>
              <a:rPr lang="en-US" dirty="0"/>
              <a:t> modeling because mech not developed for this blend</a:t>
            </a:r>
          </a:p>
          <a:p>
            <a:r>
              <a:rPr lang="en-US" dirty="0"/>
              <a:t>Explain why </a:t>
            </a:r>
            <a:r>
              <a:rPr lang="en-US" dirty="0" err="1"/>
              <a:t>gotama</a:t>
            </a:r>
            <a:r>
              <a:rPr lang="en-US" dirty="0"/>
              <a:t> mech selected</a:t>
            </a:r>
          </a:p>
          <a:p>
            <a:r>
              <a:rPr lang="en-US" dirty="0"/>
              <a:t>	“a reaction mechanism developed for nh3/h2 flame selected to STUDY nh3/h2 flame chemistry”</a:t>
            </a:r>
          </a:p>
          <a:p>
            <a:r>
              <a:rPr lang="en-US" dirty="0"/>
              <a:t>Don’t say compare. Emphasis on how other mechanisms were used to study the chemistry.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94060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Operating conditions selected because substantial experimental data exists for this condition in literature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55310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</a:t>
            </a:r>
            <a:r>
              <a:rPr lang="en-US" dirty="0" err="1"/>
              <a:t>okafor</a:t>
            </a:r>
            <a:r>
              <a:rPr lang="en-US" dirty="0"/>
              <a:t> detailed mechanism in the figure</a:t>
            </a:r>
          </a:p>
          <a:p>
            <a:r>
              <a:rPr lang="en-US" dirty="0"/>
              <a:t>Mention how there is an underlying misrepresentation in </a:t>
            </a:r>
            <a:r>
              <a:rPr lang="en-US" dirty="0" err="1"/>
              <a:t>okafor</a:t>
            </a:r>
            <a:r>
              <a:rPr lang="en-US" dirty="0"/>
              <a:t> mech leading to nh3/h2 </a:t>
            </a:r>
            <a:r>
              <a:rPr lang="en-US" dirty="0" err="1"/>
              <a:t>lbv</a:t>
            </a:r>
            <a:r>
              <a:rPr lang="en-US" dirty="0"/>
              <a:t> underprediction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91100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use of sensitivity analysis to determine reactions important to </a:t>
            </a:r>
            <a:r>
              <a:rPr lang="en-US" dirty="0" err="1"/>
              <a:t>lbv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49709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(a) and (b) to names of mechanism</a:t>
            </a:r>
          </a:p>
          <a:p>
            <a:r>
              <a:rPr lang="en-US" dirty="0"/>
              <a:t>Remove caption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of point 1,3 -&gt; 4 -&gt; 2</a:t>
            </a:r>
          </a:p>
          <a:p>
            <a:r>
              <a:rPr lang="en-US" dirty="0"/>
              <a:t>1,3 combine by NH2 &lt;-&gt; N2Hx pathway</a:t>
            </a:r>
          </a:p>
          <a:p>
            <a:r>
              <a:rPr lang="en-US" dirty="0"/>
              <a:t>2 express significance of NNH -&gt; N2 in H radical production by showing contribution of ROP of H via this reaction</a:t>
            </a:r>
          </a:p>
          <a:p>
            <a:endParaRPr lang="en-US" dirty="0"/>
          </a:p>
          <a:p>
            <a:r>
              <a:rPr lang="en-US" dirty="0"/>
              <a:t>1,2,3 control H radicals conc</a:t>
            </a:r>
          </a:p>
          <a:p>
            <a:r>
              <a:rPr lang="en-US" dirty="0"/>
              <a:t>1,2 control NH and NH2 conc</a:t>
            </a:r>
          </a:p>
          <a:p>
            <a:r>
              <a:rPr lang="en-US" dirty="0"/>
              <a:t>	NHx interact with H and OH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26658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722279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graph starts at 0,0</a:t>
            </a:r>
          </a:p>
          <a:p>
            <a:r>
              <a:rPr lang="en-US" dirty="0"/>
              <a:t>Explain why N2Hx pathways do not affect nh3/ch4 flames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77750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2.xml"/><Relationship Id="rId10" Type="http://schemas.openxmlformats.org/officeDocument/2006/relationships/customXml" Target="../ink/ink6.xml"/><Relationship Id="rId4" Type="http://schemas.openxmlformats.org/officeDocument/2006/relationships/image" Target="../media/image19.png"/><Relationship Id="rId9" Type="http://schemas.openxmlformats.org/officeDocument/2006/relationships/customXml" Target="../ink/ink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customXml" Target="../ink/ink8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customXml" Target="../ink/ink10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0.png"/><Relationship Id="rId5" Type="http://schemas.openxmlformats.org/officeDocument/2006/relationships/image" Target="../media/image15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9416" y="1268760"/>
            <a:ext cx="5616575" cy="4777682"/>
          </a:xfrm>
        </p:spPr>
        <p:txBody>
          <a:bodyPr anchor="ctr"/>
          <a:lstStyle/>
          <a:p>
            <a:endParaRPr lang="en-GB" sz="2000" dirty="0"/>
          </a:p>
          <a:p>
            <a:r>
              <a:rPr lang="en-GB" sz="2000" dirty="0"/>
              <a:t>Numerically simulating ammonia blends is necessary for combustion system development.</a:t>
            </a:r>
          </a:p>
          <a:p>
            <a:endParaRPr lang="en-GB" sz="2000" dirty="0"/>
          </a:p>
          <a:p>
            <a:r>
              <a:rPr lang="en-GB" sz="2000" dirty="0"/>
              <a:t>Large-scale, 3D modelling with detailed chemical kinetics mechanisms increases computational cost.</a:t>
            </a:r>
          </a:p>
          <a:p>
            <a:endParaRPr lang="en-GB" sz="2000" dirty="0"/>
          </a:p>
          <a:p>
            <a:r>
              <a:rPr lang="en-GB" sz="2000" dirty="0"/>
              <a:t>Reduced chemical kinetic mechanisms optimized for multiple ammonia blends and operating conditions is needed.</a:t>
            </a:r>
          </a:p>
          <a:p>
            <a:endParaRPr lang="en-GB" sz="20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4C572-D320-9E1B-6FFE-DBDAEF9864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92824" y="3513585"/>
            <a:ext cx="3015064" cy="2214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6A4A50-BD65-57A1-23B3-5AA1C2AB35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08" r="12563"/>
          <a:stretch>
            <a:fillRect/>
          </a:stretch>
        </p:blipFill>
        <p:spPr>
          <a:xfrm>
            <a:off x="7248128" y="908720"/>
            <a:ext cx="4104456" cy="191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CF3C5-C505-2F53-DE0B-D375D6591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268760"/>
            <a:ext cx="5760591" cy="4777682"/>
          </a:xfrm>
        </p:spPr>
        <p:txBody>
          <a:bodyPr/>
          <a:lstStyle/>
          <a:p>
            <a:r>
              <a:rPr lang="en-US" dirty="0"/>
              <a:t>Existing reduced chemical kinetics mechanisms target specific fuel blends for select operating conditions.</a:t>
            </a:r>
          </a:p>
          <a:p>
            <a:endParaRPr lang="en-US" dirty="0"/>
          </a:p>
          <a:p>
            <a:r>
              <a:rPr lang="en-US" dirty="0"/>
              <a:t>Elucidating reaction pathways particular to specific fuel blends helped develop a kinetics mechanism viable for a wider range of fuels.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AB77F8-CD44-7B97-8127-2391D52BE4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" r="139"/>
          <a:stretch/>
        </p:blipFill>
        <p:spPr>
          <a:xfrm>
            <a:off x="6456040" y="1412776"/>
            <a:ext cx="5472608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700808"/>
            <a:ext cx="11233150" cy="4345634"/>
          </a:xfrm>
        </p:spPr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is developed to model laminar burning velocities of NH3/air and NH3/CH4/air flames accurately.</a:t>
                </a:r>
              </a:p>
              <a:p>
                <a:pPr lvl="1"/>
                <a:r>
                  <a:rPr lang="en-US" dirty="0"/>
                  <a:t>The mechanism is not optimized for NH3/H2/air flames.</a:t>
                </a:r>
              </a:p>
              <a:p>
                <a:pPr lvl="2"/>
                <a:r>
                  <a:rPr lang="en-US" dirty="0"/>
                  <a:t>Hence underpredicts flame speed when H2 concentration exceeds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Underlying chemistry in NH3/H2/air flames were studied by studying reaction mechanisms developed for this blend. </a:t>
                </a:r>
              </a:p>
              <a:p>
                <a:pPr lvl="1"/>
                <a:r>
                  <a:rPr lang="en-US" dirty="0"/>
                  <a:t>Reaction mechanism by Gotama et al. (2022) was optimized for laminar burning velocity of NH3/H2/air flames.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425" y="2060848"/>
                <a:ext cx="11233150" cy="3985594"/>
              </a:xfrm>
            </p:spPr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425" y="2060848"/>
                <a:ext cx="11233150" cy="3985594"/>
              </a:xfrm>
              <a:blipFill>
                <a:blip r:embed="rId3"/>
                <a:stretch>
                  <a:fillRect l="-1683" t="-25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F996C7D2-DBF4-F59C-D660-9429CAC5564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Experimental Data-points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of NH3/H2/air Flames</a:t>
                </a:r>
              </a:p>
            </p:txBody>
          </p:sp>
        </mc:Choice>
        <mc:Fallback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F996C7D2-DBF4-F59C-D660-9429CAC556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852" t="-20968" b="-45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DDFC0D-4DBA-7E3D-AC83-617F54F5D9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79424" y="1500437"/>
                <a:ext cx="5400675" cy="4212430"/>
              </a:xfrm>
            </p:spPr>
            <p:txBody>
              <a:bodyPr/>
              <a:lstStyle/>
              <a:p>
                <a:r>
                  <a:rPr lang="en-US" sz="2400" dirty="0"/>
                  <a:t>Most experimental data available at 1 atm of pressure</a:t>
                </a:r>
              </a:p>
              <a:p>
                <a:r>
                  <a:rPr lang="en-US" sz="2400" dirty="0"/>
                  <a:t>Stoichiometric (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US" sz="2400" dirty="0"/>
                  <a:t> equivalence ratio has the most data points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To evaluate reaction mechanisms pressure of 1 atm and equivalence ratio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 selected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DDFC0D-4DBA-7E3D-AC83-617F54F5D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79424" y="1500437"/>
                <a:ext cx="5400675" cy="4212430"/>
              </a:xfrm>
              <a:blipFill>
                <a:blip r:embed="rId3"/>
                <a:stretch>
                  <a:fillRect l="-3273" t="-2026" r="-48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B61495E0-5FEF-6D91-432C-53DD2370880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38660"/>
            <a:ext cx="5616575" cy="421243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4A413-AB19-7DFC-9AB9-3F8D3BCDFB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4178594-FC77-EC72-D5C1-2B034ECBAA0F}"/>
              </a:ext>
            </a:extLst>
          </p:cNvPr>
          <p:cNvSpPr/>
          <p:nvPr/>
        </p:nvSpPr>
        <p:spPr>
          <a:xfrm>
            <a:off x="3719736" y="5551091"/>
            <a:ext cx="144016" cy="45719"/>
          </a:xfrm>
          <a:prstGeom prst="ellipse">
            <a:avLst/>
          </a:prstGeom>
          <a:solidFill>
            <a:srgbClr val="0D002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Normalized sensitivity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to rate constants of elementary reactions highlighted reactions with significant effect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Mechanisms were studied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reaction pathways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and equivalence ratio of 1.0 under atmospheric conditions.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 b="-40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8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362254"/>
            <a:ext cx="10691186" cy="404348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</p:spPr>
            <p:txBody>
              <a:bodyPr/>
              <a:lstStyle/>
              <a:p>
                <a:pPr>
                  <a:defRPr/>
                </a:pPr>
                <a:r>
                  <a:rPr lang="en-US" altLang="ja-JP" dirty="0"/>
                  <a:t>Reaction pathways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  <a:blipFill>
                <a:blip r:embed="rId4"/>
                <a:stretch>
                  <a:fillRect l="-852" t="-11290" b="-5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12F815-FBBD-6F5C-6657-204ABE3DAB9A}"/>
              </a:ext>
            </a:extLst>
          </p:cNvPr>
          <p:cNvSpPr txBox="1"/>
          <p:nvPr/>
        </p:nvSpPr>
        <p:spPr>
          <a:xfrm>
            <a:off x="762000" y="5682734"/>
            <a:ext cx="10662592" cy="3385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US" sz="1600" dirty="0"/>
              <a:t>Okafor Reduced Mech</a:t>
            </a:r>
          </a:p>
          <a:p>
            <a:pPr algn="ctr"/>
            <a:r>
              <a:rPr lang="en-US" sz="1600" dirty="0"/>
              <a:t>Gotama Mech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57999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293608" y="409651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NH2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sz="2400" dirty="0"/>
                  <a:t> N2H3 reaction pathway was not modelled in Okafor Reduced Mech.</a:t>
                </a:r>
              </a:p>
              <a:p>
                <a:pPr lvl="1"/>
                <a:r>
                  <a:rPr lang="en-US" sz="2000" dirty="0"/>
                  <a:t>Formation of N2H3: NH2 + NH = N2H3</a:t>
                </a:r>
              </a:p>
              <a:p>
                <a:pPr lvl="1"/>
                <a:r>
                  <a:rPr lang="en-US" sz="2000" dirty="0"/>
                  <a:t>Consumption of N2H3: N2H3 + H = 2NH2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 in Gotama Mech was dominated by NNH = N2 + H</a:t>
                </a:r>
              </a:p>
              <a:p>
                <a:pPr lvl="1"/>
                <a:r>
                  <a:rPr lang="en-US" sz="2000" dirty="0"/>
                  <a:t>Contributes to H radical production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IROP of NH2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N2H2 pathway was higher in Gotama Mech.</a:t>
                </a:r>
              </a:p>
              <a:p>
                <a:pPr lvl="1"/>
                <a:r>
                  <a:rPr lang="en-US" sz="2000" dirty="0"/>
                  <a:t>NH2 + NH = N2H2 + H contributes the most to this pathway.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N2H2 formation further promotes N2Hx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pathways.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74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6CFE9-549C-79BA-CC3F-6CBB44812D7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Key Differences in Reaction Pathways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5443D-6165-FD4A-701C-68EF27D39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48375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C6EA-9035-0D33-4A05-51773F343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GB" dirty="0"/>
                  <a:t> N2Hx pathways play a significant role in formation and consumption of N2Hx species.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C3BDB-DBFE-6244-21E6-1440D47FE7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BD3651-E13A-1FD5-23B8-7AEE3B2BE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138" y="2708920"/>
            <a:ext cx="3997977" cy="2779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217A2B-2FAC-4B49-C4A1-30D2A50A0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504" y="2708920"/>
            <a:ext cx="3822706" cy="27794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B1AFBF0-4DA6-69A2-B5E5-96B64647CE00}"/>
              </a:ext>
            </a:extLst>
          </p:cNvPr>
          <p:cNvSpPr txBox="1"/>
          <p:nvPr/>
        </p:nvSpPr>
        <p:spPr>
          <a:xfrm>
            <a:off x="762000" y="5682734"/>
            <a:ext cx="10662592" cy="3385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US" sz="1600" dirty="0"/>
              <a:t>Okafor Reduced Mech</a:t>
            </a:r>
          </a:p>
          <a:p>
            <a:pPr algn="ctr"/>
            <a:r>
              <a:rPr lang="en-US" sz="1600" dirty="0"/>
              <a:t>Gotama Mech</a:t>
            </a:r>
          </a:p>
        </p:txBody>
      </p:sp>
    </p:spTree>
    <p:extLst>
      <p:ext uri="{BB962C8B-B14F-4D97-AF65-F5344CB8AC3E}">
        <p14:creationId xmlns:p14="http://schemas.microsoft.com/office/powerpoint/2010/main" val="4097991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C711F-F307-38DF-6B2A-6C0EA014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266D2-F1EB-ADBD-F246-EA7ADF83E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6D2695-CE28-7813-385F-F26AC1451D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GB" dirty="0"/>
                  <a:t> N2Hx pathways play a significant role in formation and consumption of N2Hx species.</a:t>
                </a:r>
              </a:p>
              <a:p>
                <a:r>
                  <a:rPr lang="en-GB" dirty="0"/>
                  <a:t>Present Mech was updated to model these pathways more accurately.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6D2695-CE28-7813-385F-F26AC1451D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D1311-A640-6293-7A2A-3A592BC489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C296F9-A6A6-5F9B-3962-112EDDD70FA2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102250859"/>
                  </p:ext>
                </p:extLst>
              </p:nvPr>
            </p:nvGraphicFramePr>
            <p:xfrm>
              <a:off x="1134745" y="3068960"/>
              <a:ext cx="9922510" cy="32004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27432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27432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0952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508121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C296F9-A6A6-5F9B-3962-112EDDD70FA2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102250859"/>
                  </p:ext>
                </p:extLst>
              </p:nvPr>
            </p:nvGraphicFramePr>
            <p:xfrm>
              <a:off x="1134745" y="3068960"/>
              <a:ext cx="9922510" cy="32004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59333" t="-108333" r="-728000" b="-6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59333" t="-108333" r="-628000" b="-6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59333" t="-108333" r="-528000" b="-6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55629" t="-108333" r="-424503" b="-6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60000" t="-108333" r="-327333" b="-6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60000" t="-108333" r="-227333" b="-698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0952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508121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99658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DCA59-67D8-3660-3A95-60D27C2A7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F32B-8040-37A7-5F74-D94E20509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51C4D-B2BB-95DC-2F57-DB21F7575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N2H2 formed contributes to the formation of NNH</a:t>
            </a:r>
          </a:p>
          <a:p>
            <a:pPr lvl="1"/>
            <a:r>
              <a:rPr lang="en-GB" dirty="0"/>
              <a:t>Primarily through the decomposition of N2H2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DA47E-D996-79A2-47F5-81035756BA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6329D7-13CB-D24A-CB11-F68CFD0A5E7A}"/>
              </a:ext>
            </a:extLst>
          </p:cNvPr>
          <p:cNvGrpSpPr/>
          <p:nvPr/>
        </p:nvGrpSpPr>
        <p:grpSpPr>
          <a:xfrm>
            <a:off x="1893427" y="2204864"/>
            <a:ext cx="8667069" cy="4480770"/>
            <a:chOff x="1893427" y="2204864"/>
            <a:chExt cx="8667069" cy="4480770"/>
          </a:xfrm>
        </p:grpSpPr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A59D35AD-FABC-C80D-1E76-37E387A0530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18389637"/>
                </p:ext>
              </p:extLst>
            </p:nvPr>
          </p:nvGraphicFramePr>
          <p:xfrm>
            <a:off x="1893428" y="2204864"/>
            <a:ext cx="8667068" cy="448077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8FB4010-AC9B-B203-2FC6-E6914D79FA7B}"/>
                    </a:ext>
                  </a:extLst>
                </p14:cNvPr>
                <p14:cNvContentPartPr/>
                <p14:nvPr/>
              </p14:nvContentPartPr>
              <p14:xfrm>
                <a:off x="1893429" y="5889316"/>
                <a:ext cx="8260920" cy="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8FB4010-AC9B-B203-2FC6-E6914D79FA7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39429" y="5781316"/>
                  <a:ext cx="8368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A769DE2-DE31-F1BF-0416-EA53D12C9602}"/>
                    </a:ext>
                  </a:extLst>
                </p14:cNvPr>
                <p14:cNvContentPartPr/>
                <p14:nvPr/>
              </p14:nvContentPartPr>
              <p14:xfrm>
                <a:off x="1893428" y="5804904"/>
                <a:ext cx="8260921" cy="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A769DE2-DE31-F1BF-0416-EA53D12C96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39428" y="5697264"/>
                  <a:ext cx="8368561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9BBA519-21C7-B7BD-8452-87D5941D15CE}"/>
                    </a:ext>
                  </a:extLst>
                </p14:cNvPr>
                <p14:cNvContentPartPr/>
                <p14:nvPr/>
              </p14:nvContentPartPr>
              <p14:xfrm>
                <a:off x="1893428" y="4521524"/>
                <a:ext cx="8260920" cy="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9BBA519-21C7-B7BD-8452-87D5941D15C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39428" y="4413524"/>
                  <a:ext cx="8368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57D2BF8-1F1C-9DA1-5AE5-4838A9645915}"/>
                    </a:ext>
                  </a:extLst>
                </p14:cNvPr>
                <p14:cNvContentPartPr/>
                <p14:nvPr/>
              </p14:nvContentPartPr>
              <p14:xfrm>
                <a:off x="1893427" y="4437112"/>
                <a:ext cx="8260921" cy="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57D2BF8-1F1C-9DA1-5AE5-4838A964591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39427" y="4329472"/>
                  <a:ext cx="8368561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9DAA3FB-3277-AAE7-62E1-C3F9BA60922A}"/>
                    </a:ext>
                  </a:extLst>
                </p14:cNvPr>
                <p14:cNvContentPartPr/>
                <p14:nvPr/>
              </p14:nvContentPartPr>
              <p14:xfrm>
                <a:off x="1893428" y="4883506"/>
                <a:ext cx="8260920" cy="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9DAA3FB-3277-AAE7-62E1-C3F9BA60922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39428" y="4775506"/>
                  <a:ext cx="8368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CFB3545-251C-3DB0-93CD-B1A4CE7D829C}"/>
                    </a:ext>
                  </a:extLst>
                </p14:cNvPr>
                <p14:cNvContentPartPr/>
                <p14:nvPr/>
              </p14:nvContentPartPr>
              <p14:xfrm>
                <a:off x="1893427" y="4799094"/>
                <a:ext cx="8260921" cy="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CFB3545-251C-3DB0-93CD-B1A4CE7D829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39427" y="4691454"/>
                  <a:ext cx="8368561" cy="21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43166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AB6C-0B2B-810F-6064-CCE19A028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C5C36B-7265-9830-2A07-8939B614F8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 Mech was updated with rate constants below to model these pathways.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3084A-C599-C830-74F8-5062579EA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2FEC1401-CB9A-D084-C897-F2E8A2D700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33560735"/>
                  </p:ext>
                </p:extLst>
              </p:nvPr>
            </p:nvGraphicFramePr>
            <p:xfrm>
              <a:off x="1153795" y="2896344"/>
              <a:ext cx="9922510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27432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27432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2FEC1401-CB9A-D084-C897-F2E8A2D700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33560735"/>
                  </p:ext>
                </p:extLst>
              </p:nvPr>
            </p:nvGraphicFramePr>
            <p:xfrm>
              <a:off x="1153795" y="2896344"/>
              <a:ext cx="9922510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58667" t="-108333" r="-728000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58667" t="-108333" r="-628000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58667" t="-108333" r="-528000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54967" t="-108333" r="-424503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59333" t="-108333" r="-327333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59333" t="-108333" r="-227333" b="-323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14205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ABC7E-F827-763C-963C-6102CEC80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F19FE-C83C-A011-B206-33C99CEF4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18AF9-0576-3FD1-E327-3BF880C47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NNH is consumed primarily through its decomposition to produce H radicals.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BAE66-EC9A-0810-E1DD-7263DCA6C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15</a:t>
            </a:fld>
            <a:endParaRPr lang="en-US" altLang="ja-JP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B111F47-4E71-37FE-C84B-8E590619E60D}"/>
              </a:ext>
            </a:extLst>
          </p:cNvPr>
          <p:cNvGrpSpPr/>
          <p:nvPr/>
        </p:nvGrpSpPr>
        <p:grpSpPr>
          <a:xfrm>
            <a:off x="1883532" y="2201394"/>
            <a:ext cx="8424936" cy="4484240"/>
            <a:chOff x="1631504" y="1933106"/>
            <a:chExt cx="8928992" cy="4752528"/>
          </a:xfrm>
        </p:grpSpPr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4808A1D5-4C20-27E0-2F89-F4A3A759A0B2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005449632"/>
                </p:ext>
              </p:extLst>
            </p:nvPr>
          </p:nvGraphicFramePr>
          <p:xfrm>
            <a:off x="1631504" y="1933106"/>
            <a:ext cx="8928992" cy="475252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00E0119-B471-5931-F480-4705BA495CB6}"/>
                    </a:ext>
                  </a:extLst>
                </p14:cNvPr>
                <p14:cNvContentPartPr/>
                <p14:nvPr/>
              </p14:nvContentPartPr>
              <p14:xfrm>
                <a:off x="2447469" y="2277796"/>
                <a:ext cx="5929560" cy="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00E0119-B471-5931-F480-4705BA495CB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90238" y="2169796"/>
                  <a:ext cx="6043641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97F62CF-4A63-B384-C1AC-AA5BA624195D}"/>
                    </a:ext>
                  </a:extLst>
                </p14:cNvPr>
                <p14:cNvContentPartPr/>
                <p14:nvPr/>
              </p14:nvContentPartPr>
              <p14:xfrm>
                <a:off x="2469208" y="2184916"/>
                <a:ext cx="5881429" cy="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97F62CF-4A63-B384-C1AC-AA5BA624195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11977" y="2076916"/>
                  <a:ext cx="5995509" cy="21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15918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B83C8-EC53-9D22-2941-0A55386CE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A5E5-3C5B-8E7D-8FE9-99884AAB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F2678-643E-2B99-9A81-5CCE23D17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Increased formation of NNH yields an increased contribution to H radical production.</a:t>
            </a:r>
          </a:p>
          <a:p>
            <a:pPr lvl="1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0EDB7-6861-4027-6EF8-00A2A76DC0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16</a:t>
            </a:fld>
            <a:endParaRPr lang="en-US" altLang="ja-JP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441FDEE-6FF7-2012-6AA0-79ADF800A0CB}"/>
              </a:ext>
            </a:extLst>
          </p:cNvPr>
          <p:cNvGrpSpPr/>
          <p:nvPr/>
        </p:nvGrpSpPr>
        <p:grpSpPr>
          <a:xfrm>
            <a:off x="2375586" y="2113384"/>
            <a:ext cx="7440828" cy="4464496"/>
            <a:chOff x="2375586" y="2113384"/>
            <a:chExt cx="7440828" cy="4464496"/>
          </a:xfrm>
        </p:grpSpPr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BB5C1375-6BBA-5ECF-49E0-29ACC89EC55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000789350"/>
                </p:ext>
              </p:extLst>
            </p:nvPr>
          </p:nvGraphicFramePr>
          <p:xfrm>
            <a:off x="2375586" y="2113384"/>
            <a:ext cx="7440828" cy="446449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741867B-8C81-6082-8007-9A30D6633D64}"/>
                    </a:ext>
                  </a:extLst>
                </p14:cNvPr>
                <p14:cNvContentPartPr/>
                <p14:nvPr/>
              </p14:nvContentPartPr>
              <p14:xfrm>
                <a:off x="2999088" y="2857392"/>
                <a:ext cx="3695760" cy="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741867B-8C81-6082-8007-9A30D6633D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945088" y="2749752"/>
                  <a:ext cx="38034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D34B044-D6D5-3B6C-76A1-620923DB3E6D}"/>
                    </a:ext>
                  </a:extLst>
                </p14:cNvPr>
                <p14:cNvContentPartPr/>
                <p14:nvPr/>
              </p14:nvContentPartPr>
              <p14:xfrm>
                <a:off x="2541888" y="4896432"/>
                <a:ext cx="3456360" cy="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D34B044-D6D5-3B6C-76A1-620923DB3E6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87888" y="4788792"/>
                  <a:ext cx="3564000" cy="21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5104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711D7-0C8E-DBA0-6759-E1FF245BD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Updates in Present Mechanism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A2BFE47-DF4F-9AC3-F112-0383B55F8E4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2524348"/>
                  </p:ext>
                </p:extLst>
              </p:nvPr>
            </p:nvGraphicFramePr>
            <p:xfrm>
              <a:off x="1153795" y="1268413"/>
              <a:ext cx="9922510" cy="4846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27432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27432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/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/>
                                    </m:ctrlPr>
                                  </m:sSubPr>
                                  <m:e>
                                    <m:r>
                                      <a:rPr lang="en-US" b="0" smtClean="0"/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/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0952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93892560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N2H3+O=N2H2+OH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1.70E+08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1.500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-646.00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5023859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N2H3+OH=N2H2+H2O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1.20E+06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4701897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N2H3+M=N2H2+H+M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2.00E+16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37000.00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683819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N2H3+HO2=N2H2+H2O2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1.40E+04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2.690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-1600.00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1985215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A2BFE47-DF4F-9AC3-F112-0383B55F8E4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2524348"/>
                  </p:ext>
                </p:extLst>
              </p:nvPr>
            </p:nvGraphicFramePr>
            <p:xfrm>
              <a:off x="1153795" y="1268413"/>
              <a:ext cx="9922510" cy="4846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8667" t="-108333" r="-728000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58667" t="-108333" r="-628000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58667" t="-108333" r="-528000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54967" t="-108333" r="-424503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59333" t="-108333" r="-327333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59333" t="-108333" r="-227333" b="-1148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0952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93892560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N2H3+O=N2H2+OH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1.70E+08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1.500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-646.00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5023859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N2H3+OH=N2H2+H2O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1.20E+06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4701897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N2H3+M=N2H2+H+M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2.00E+16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37000.00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683819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N2H3+HO2=N2H2+H2O2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1.40E+04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2.690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-1600.00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1985215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156AE-9E5F-AE69-E197-65877A13FF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393494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18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19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69D1A46-5D8F-4403-6081-82DF5F8F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B58D9ED-C762-5FD5-631A-D67C968D3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E24B0-4DD2-FEDE-6BF8-ADE28B4F2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20</a:t>
            </a:fld>
            <a:endParaRPr lang="en-US" altLang="ja-JP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E4723-FD51-D863-6173-13FC2AB25BF7}"/>
              </a:ext>
            </a:extLst>
          </p:cNvPr>
          <p:cNvSpPr txBox="1"/>
          <p:nvPr/>
        </p:nvSpPr>
        <p:spPr>
          <a:xfrm>
            <a:off x="2114021" y="5858108"/>
            <a:ext cx="7963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8860268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D2278-8799-F402-4490-3600455AE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C7804-0335-EAE7-6468-C2ED8AEAD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F652D-2709-175C-CC3C-68F6A7220D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44389990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3677</TotalTime>
  <Words>1808</Words>
  <Application>Microsoft Office PowerPoint</Application>
  <PresentationFormat>Widescreen</PresentationFormat>
  <Paragraphs>335</Paragraphs>
  <Slides>22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 Narrow</vt:lpstr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Experimental Data-points for S_L of NH3/H2/air Flames</vt:lpstr>
      <vt:lpstr>PowerPoint Presentation</vt:lpstr>
      <vt:lpstr>PowerPoint Presentation</vt:lpstr>
      <vt:lpstr>PowerPoint Presentation</vt:lpstr>
      <vt:lpstr>PowerPoint Presentation</vt:lpstr>
      <vt:lpstr>Key Findings from Reaction Pathway Analysis</vt:lpstr>
      <vt:lpstr>Key Findings from Reaction Pathway Analysis</vt:lpstr>
      <vt:lpstr>Key Findings from Reaction Pathway Analysis</vt:lpstr>
      <vt:lpstr>Key Findings from Reaction Pathway Analysis</vt:lpstr>
      <vt:lpstr>Key Findings from Reaction Pathway Analysis</vt:lpstr>
      <vt:lpstr>Key Findings from Reaction Pathway Analysis</vt:lpstr>
      <vt:lpstr>Updates in Present Mechanism</vt:lpstr>
      <vt:lpstr>PowerPoint Presentation</vt:lpstr>
      <vt:lpstr>Validation – NH3/H2/air</vt:lpstr>
      <vt:lpstr>Validation – NH3/CH4/air</vt:lpstr>
      <vt:lpstr>Validation – NH3/CH4/air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104</cp:revision>
  <cp:lastPrinted>2013-02-26T06:20:36Z</cp:lastPrinted>
  <dcterms:created xsi:type="dcterms:W3CDTF">2007-10-25T08:30:33Z</dcterms:created>
  <dcterms:modified xsi:type="dcterms:W3CDTF">2026-10-22T11:25:56Z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