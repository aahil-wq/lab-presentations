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60" r:id="rId5"/>
    <p:sldId id="262" r:id="rId6"/>
    <p:sldId id="270" r:id="rId7"/>
    <p:sldId id="263" r:id="rId8"/>
    <p:sldId id="271" r:id="rId9"/>
    <p:sldId id="266" r:id="rId10"/>
    <p:sldId id="272" r:id="rId11"/>
    <p:sldId id="274" r:id="rId12"/>
    <p:sldId id="273" r:id="rId13"/>
    <p:sldId id="275" r:id="rId14"/>
    <p:sldId id="277" r:id="rId15"/>
    <p:sldId id="278" r:id="rId16"/>
    <p:sldId id="280" r:id="rId17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clrMru>
    <a:srgbClr val="8502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9805" autoAdjust="0"/>
  </p:normalViewPr>
  <p:slideViewPr>
    <p:cSldViewPr showGuides="1">
      <p:cViewPr varScale="1">
        <p:scale>
          <a:sx n="99" d="100"/>
          <a:sy n="99" d="100"/>
        </p:scale>
        <p:origin x="108" y="2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2026/10/20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 dirty="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importance of ammonia combustion simulation</a:t>
            </a:r>
          </a:p>
          <a:p>
            <a:r>
              <a:rPr lang="en-US" dirty="0"/>
              <a:t>	for emission control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Lesser whitespace</a:t>
            </a:r>
          </a:p>
          <a:p>
            <a:r>
              <a:rPr lang="en-US" dirty="0"/>
              <a:t>Figures relevant to talking points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201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 images; unclear as to what the image represents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247173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Okafor mech fails nh3/h2 </a:t>
            </a:r>
            <a:r>
              <a:rPr lang="en-US" dirty="0" err="1"/>
              <a:t>lbv</a:t>
            </a:r>
            <a:r>
              <a:rPr lang="en-US" dirty="0"/>
              <a:t> modeling because mech not developed for this blend</a:t>
            </a:r>
          </a:p>
          <a:p>
            <a:r>
              <a:rPr lang="en-US" dirty="0"/>
              <a:t>Explain why </a:t>
            </a:r>
            <a:r>
              <a:rPr lang="en-US" dirty="0" err="1"/>
              <a:t>gotama</a:t>
            </a:r>
            <a:r>
              <a:rPr lang="en-US" dirty="0"/>
              <a:t> mech selected</a:t>
            </a:r>
          </a:p>
          <a:p>
            <a:r>
              <a:rPr lang="en-US" dirty="0"/>
              <a:t>	“a reaction mechanism developed for nh3/h2 flame selected to STUDY nh3/h2 flame chemistry”</a:t>
            </a:r>
          </a:p>
          <a:p>
            <a:r>
              <a:rPr lang="en-US" dirty="0"/>
              <a:t>Don’t say compare. Emphasis on how other mechanisms were used to study the chemistry.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94060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Operating conditions selected because substantial experimental data exists for this condition in literature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7553101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</a:t>
            </a:r>
            <a:r>
              <a:rPr lang="en-US" dirty="0" err="1"/>
              <a:t>okafor</a:t>
            </a:r>
            <a:r>
              <a:rPr lang="en-US" dirty="0"/>
              <a:t> detailed mechanism in the figure</a:t>
            </a:r>
          </a:p>
          <a:p>
            <a:r>
              <a:rPr lang="en-US" dirty="0"/>
              <a:t>Mention how there is an underlying misrepresentation in </a:t>
            </a:r>
            <a:r>
              <a:rPr lang="en-US" dirty="0" err="1"/>
              <a:t>okafor</a:t>
            </a:r>
            <a:r>
              <a:rPr lang="en-US" dirty="0"/>
              <a:t> mech leading to nh3/h2 </a:t>
            </a:r>
            <a:r>
              <a:rPr lang="en-US" dirty="0" err="1"/>
              <a:t>lbv</a:t>
            </a:r>
            <a:r>
              <a:rPr lang="en-US" dirty="0"/>
              <a:t> underprediction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911005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use of sensitivity analysis to determine reactions important to </a:t>
            </a:r>
            <a:r>
              <a:rPr lang="en-US" dirty="0" err="1"/>
              <a:t>lbv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497097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(a) and (b) to names of mechanism</a:t>
            </a:r>
          </a:p>
          <a:p>
            <a:r>
              <a:rPr lang="en-US" dirty="0"/>
              <a:t>Remove caption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349124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of point 1,3 -&gt; 4 -&gt; 2</a:t>
            </a:r>
          </a:p>
          <a:p>
            <a:r>
              <a:rPr lang="en-US" dirty="0"/>
              <a:t>1,3 combine by NH2 &lt;-&gt; N2Hx pathway</a:t>
            </a:r>
          </a:p>
          <a:p>
            <a:r>
              <a:rPr lang="en-US" dirty="0"/>
              <a:t>2 express significance of NNH -&gt; N2 in H radical production by showing contribution of ROP of H via this reaction</a:t>
            </a:r>
          </a:p>
          <a:p>
            <a:endParaRPr lang="en-US" dirty="0"/>
          </a:p>
          <a:p>
            <a:r>
              <a:rPr lang="en-US" dirty="0"/>
              <a:t>1,2,3 control H radicals conc</a:t>
            </a:r>
          </a:p>
          <a:p>
            <a:r>
              <a:rPr lang="en-US" dirty="0"/>
              <a:t>1,2 control NH and NH2 conc</a:t>
            </a:r>
          </a:p>
          <a:p>
            <a:r>
              <a:rPr lang="en-US" dirty="0"/>
              <a:t>	NHx interact with H and OH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266587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Unable to validate for elevated pressures due to a lack of experimental 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57646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graph starts at 0,0</a:t>
            </a:r>
          </a:p>
          <a:p>
            <a:r>
              <a:rPr lang="en-US" dirty="0"/>
              <a:t>Explain why N2Hx pathways do not affect nh3/ch4 flames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977750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2D94619-833C-3082-E36D-CB9CDB51E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067F8173-5283-2A94-3A1E-47BFD28546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17579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17579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46CE15-5F15-1313-98EE-AEDEA6DC05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99" y="5856312"/>
            <a:ext cx="5616575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5ED6500-7977-21FE-8D37-8358EE07C8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1190" y="5853024"/>
            <a:ext cx="5398909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2B4EDC44-0D52-73DB-B591-E20D405B76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en-US" altLang="ja-JP" sz="1000" dirty="0">
              <a:solidFill>
                <a:srgbClr val="FF0000"/>
              </a:solidFill>
            </a:endParaRP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10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0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9416" y="1268760"/>
            <a:ext cx="5616575" cy="4777682"/>
          </a:xfrm>
        </p:spPr>
        <p:txBody>
          <a:bodyPr anchor="ctr"/>
          <a:lstStyle/>
          <a:p>
            <a:endParaRPr lang="en-GB" sz="2000" dirty="0"/>
          </a:p>
          <a:p>
            <a:r>
              <a:rPr lang="en-GB" sz="2000" dirty="0"/>
              <a:t>Numerically simulating ammonia blends is necessary for combustion system development.</a:t>
            </a:r>
          </a:p>
          <a:p>
            <a:endParaRPr lang="en-GB" sz="2000" dirty="0"/>
          </a:p>
          <a:p>
            <a:r>
              <a:rPr lang="en-GB" sz="2000" dirty="0"/>
              <a:t>Large-scale, 3D modelling with detailed chemical kinetics mechanisms increases computational cost.</a:t>
            </a:r>
          </a:p>
          <a:p>
            <a:endParaRPr lang="en-GB" sz="2000" dirty="0"/>
          </a:p>
          <a:p>
            <a:r>
              <a:rPr lang="en-GB" sz="2000" dirty="0"/>
              <a:t>Reduced chemical kinetic mechanisms optimized for multiple ammonia blends and operating conditions is needed.</a:t>
            </a:r>
          </a:p>
          <a:p>
            <a:endParaRPr lang="en-GB" sz="20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24C572-D320-9E1B-6FFE-DBDAEF98648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92824" y="3513585"/>
            <a:ext cx="3015064" cy="221497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6A4A50-BD65-57A1-23B3-5AA1C2AB35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08" r="12563"/>
          <a:stretch>
            <a:fillRect/>
          </a:stretch>
        </p:blipFill>
        <p:spPr>
          <a:xfrm>
            <a:off x="7248128" y="908720"/>
            <a:ext cx="4104456" cy="191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BCF3C5-C505-2F53-DE0B-D375D6591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Existing reduced chemical kinetics mechanisms target specific fuel blends for select operating conditions.</a:t>
            </a:r>
          </a:p>
          <a:p>
            <a:r>
              <a:rPr lang="en-US" dirty="0"/>
              <a:t>Elucidating reaction pathways particular to specific fuel blends helped develop a kinetics mechanism viable for a wider range of fuels.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8A3C5A-9569-5C05-F63E-7C242F6BE4F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520" y="3284984"/>
            <a:ext cx="3174434" cy="2880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8A584A7-2630-13ED-9954-5D0491438DD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8054" y="3903984"/>
            <a:ext cx="1460396" cy="168525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46367E-5E47-713B-C0D6-60F7BC616F4F}"/>
              </a:ext>
            </a:extLst>
          </p:cNvPr>
          <p:cNvCxnSpPr>
            <a:cxnSpLocks/>
          </p:cNvCxnSpPr>
          <p:nvPr/>
        </p:nvCxnSpPr>
        <p:spPr>
          <a:xfrm>
            <a:off x="5591944" y="4869160"/>
            <a:ext cx="2232248" cy="0"/>
          </a:xfrm>
          <a:prstGeom prst="straightConnector1">
            <a:avLst/>
          </a:prstGeom>
          <a:ln w="76200">
            <a:solidFill>
              <a:srgbClr val="8502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 descr="Magnifying glass with solid fill">
            <a:extLst>
              <a:ext uri="{FF2B5EF4-FFF2-40B4-BE49-F238E27FC236}">
                <a16:creationId xmlns:a16="http://schemas.microsoft.com/office/drawing/2014/main" id="{3C333A0E-AE3B-2E55-4567-211D3821AE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05845" y="381074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 reduced kinetic mechanism optimized for NH3, NH3/CH4 and NH3 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already satisfactorily models laminar burning velocity of NH3/air and NH3/CH4/air flame.</a:t>
                </a:r>
              </a:p>
              <a:p>
                <a:pPr lvl="1"/>
                <a:r>
                  <a:rPr lang="en-US" dirty="0"/>
                  <a:t>The mechanism is not optimized for NH3/H2/air flames.</a:t>
                </a:r>
              </a:p>
              <a:p>
                <a:pPr lvl="2"/>
                <a:r>
                  <a:rPr lang="en-US" dirty="0"/>
                  <a:t>Hence underpredicts flame speed when H2 concentration exceeds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Underlying chemistry in NH3/H2/air flames were studied by studying reaction mechanisms developed for this blend. </a:t>
                </a:r>
              </a:p>
              <a:p>
                <a:pPr lvl="1"/>
                <a:r>
                  <a:rPr lang="en-US" dirty="0"/>
                  <a:t>Reaction mechanism by Gotama et al. (2022) was optimized for laminar burning velocity of NH3/H2/air flames.</a:t>
                </a:r>
              </a:p>
              <a:p>
                <a:pPr lvl="1"/>
                <a:r>
                  <a:rPr lang="en-US" dirty="0"/>
                  <a:t>This mechanism was optimized for laminar burning velocity of NH3/H2/air flames.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 b="-38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the ratio of H</a:t>
                </a:r>
                <a:r>
                  <a:rPr lang="en-GB" baseline="-25000" dirty="0"/>
                  <a:t>2</a:t>
                </a:r>
                <a:r>
                  <a:rPr lang="en-GB" dirty="0"/>
                  <a:t> in the fuel, was varied</a:t>
                </a:r>
              </a:p>
              <a:p>
                <a:pPr lvl="1"/>
                <a:r>
                  <a:rPr lang="en-GB" dirty="0"/>
                  <a:t>Pressure was kept constant at 1 </a:t>
                </a:r>
                <a:r>
                  <a:rPr lang="en-GB" dirty="0" err="1"/>
                  <a:t>atm</a:t>
                </a:r>
                <a:endParaRPr lang="en-GB" dirty="0"/>
              </a:p>
              <a:p>
                <a:pPr lvl="1"/>
                <a:r>
                  <a:rPr lang="en-GB" dirty="0"/>
                  <a:t>Fuel-oxidizer ratio was maintained at stoichiometric equivalence ratio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9CD3F-DDEB-35F0-1590-B4BEAB7342D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Normalized sensitivity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to rate constants of elementary reactions were analyzed.</a:t>
                </a:r>
              </a:p>
              <a:p>
                <a:r>
                  <a:rPr lang="en-US" dirty="0"/>
                  <a:t>Mechanisms were studied using reaction pathways constructed with integrated rate of production (IROP) of major NH3 and H2 oxidation species.</a:t>
                </a:r>
              </a:p>
              <a:p>
                <a:r>
                  <a:rPr lang="en-US" b="0" dirty="0"/>
                  <a:t>IROP </a:t>
                </a:r>
                <a:r>
                  <a:rPr lang="en-US" dirty="0"/>
                  <a:t>was </a:t>
                </a:r>
                <a:r>
                  <a:rPr lang="en-US" b="0" dirty="0"/>
                  <a:t>calculated with the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𝐼𝑅𝑂𝑃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Flame used for the reaction pathways had hydrogen concentration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 and equivalence ratio of 1.0 under atmospheric conditions.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83" t="-2168" r="-2172"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D4E911-D27C-FA92-4BCB-CF7AE83B5A6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F2B3C-7422-F620-97FD-F2649A8DBD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75110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152907"/>
            <a:ext cx="10691186" cy="404348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</p:spPr>
            <p:txBody>
              <a:bodyPr/>
              <a:lstStyle/>
              <a:p>
                <a:pPr>
                  <a:defRPr/>
                </a:pPr>
                <a:r>
                  <a:rPr lang="en-US" altLang="ja-JP" dirty="0"/>
                  <a:t>Reaction pathways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6" name="Footer Placeholder 5">
                <a:extLst>
                  <a:ext uri="{FF2B5EF4-FFF2-40B4-BE49-F238E27FC236}">
                    <a16:creationId xmlns:a16="http://schemas.microsoft.com/office/drawing/2014/main" id="{DEB392FD-A7DC-53D3-86AA-59DB820A8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ftr" sz="quarter" idx="4294967295"/>
              </p:nvPr>
            </p:nvSpPr>
            <p:spPr>
              <a:xfrm>
                <a:off x="762000" y="260648"/>
                <a:ext cx="10014520" cy="381000"/>
              </a:xfrm>
              <a:blipFill>
                <a:blip r:embed="rId4"/>
                <a:stretch>
                  <a:fillRect l="-852" t="-11290" b="-5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/>
              <p:nvPr/>
            </p:nvSpPr>
            <p:spPr>
              <a:xfrm>
                <a:off x="762000" y="5473387"/>
                <a:ext cx="10662592" cy="907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			(a)						(b)</a:t>
                </a:r>
              </a:p>
              <a:p>
                <a:endParaRPr lang="en-US" sz="900" dirty="0"/>
              </a:p>
              <a:p>
                <a:r>
                  <a:rPr lang="en-US" sz="1400" dirty="0"/>
                  <a:t>Figure: Reaction pathway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400" dirty="0"/>
                  <a:t> and equivalence ratio of 1.0 using (a) Okafor Reduced Mech and (b) Gotama Mech.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473387"/>
                <a:ext cx="10662592" cy="907941"/>
              </a:xfrm>
              <a:prstGeom prst="rect">
                <a:avLst/>
              </a:prstGeom>
              <a:blipFill>
                <a:blip r:embed="rId5"/>
                <a:stretch>
                  <a:fillRect l="-172" t="-2013" b="-6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C4FD694-35C0-7260-D6C0-0D6F732C40DC}"/>
              </a:ext>
            </a:extLst>
          </p:cNvPr>
          <p:cNvSpPr txBox="1"/>
          <p:nvPr/>
        </p:nvSpPr>
        <p:spPr>
          <a:xfrm>
            <a:off x="2927648" y="457999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85B8B6-BF69-9E8C-1E1C-1C7179046A5E}"/>
              </a:ext>
            </a:extLst>
          </p:cNvPr>
          <p:cNvSpPr txBox="1"/>
          <p:nvPr/>
        </p:nvSpPr>
        <p:spPr>
          <a:xfrm>
            <a:off x="8293608" y="409651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NH2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sz="2400" dirty="0"/>
                  <a:t> N2H3 reaction pathway was not modelled in Okafor Reduced Mech.</a:t>
                </a:r>
              </a:p>
              <a:p>
                <a:pPr lvl="1"/>
                <a:r>
                  <a:rPr lang="en-US" sz="2000" dirty="0"/>
                  <a:t>Formation of N2H3: NH2 + NH = N2H3</a:t>
                </a:r>
              </a:p>
              <a:p>
                <a:pPr lvl="1"/>
                <a:r>
                  <a:rPr lang="en-US" sz="2000" dirty="0"/>
                  <a:t>Consumption of N2H3: N2H3 + H = 2NH2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 in Gotama Mech was dominated by NNH = N2 + H</a:t>
                </a:r>
              </a:p>
              <a:p>
                <a:pPr lvl="1"/>
                <a:r>
                  <a:rPr lang="en-US" sz="2000" dirty="0"/>
                  <a:t>Contributes to H radical production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IROP of NH2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N2H2 pathway was higher in Gotama Mech.</a:t>
                </a:r>
              </a:p>
              <a:p>
                <a:pPr lvl="1"/>
                <a:r>
                  <a:rPr lang="en-US" sz="2000" dirty="0"/>
                  <a:t>NH2 + NH = N2H2 + H contributes the most to this pathway.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N2H2 formation further promotes N2H2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74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6CFE9-549C-79BA-CC3F-6CBB44812D7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Key Differences in Reaction Pathways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5443D-6165-FD4A-701C-68EF27D39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48375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D21729-252F-7E36-759C-D93FFD579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33C76-7CB5-55C1-BA02-BE610482C5D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06C8-22BF-309F-7BAD-171935336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72E32E-5FFC-8A0E-F3C1-0B2075DAEA5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674305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63FDA88-BF78-529C-3D79-B84AA204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NH3/H2/air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F2CD2B9-CE34-FB16-8B3A-44603BA47C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9425" y="1824673"/>
            <a:ext cx="5400675" cy="324040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6E42C28-C199-16B1-3E72-670F6FBF43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08687"/>
            <a:ext cx="5400676" cy="324040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7C3B0-688B-C2D3-14BD-087A84030E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/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1: Comparison of measured and simulated laminar burning velocity of NH3/H2/air flames under lean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=0.7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blipFill>
                <a:blip r:embed="rId5"/>
                <a:stretch>
                  <a:fillRect l="-339" t="-1653" r="-1129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/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2: Comparison of measured and simulated laminar burning velocity of NH3/H2/air flames under rich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=1.4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blipFill>
                <a:blip r:embed="rId6"/>
                <a:stretch>
                  <a:fillRect l="-339" t="-1653" r="-226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449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69D1A46-5D8F-4403-6081-82DF5F8F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B58D9ED-C762-5FD5-631A-D67C968D31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021" y="1124744"/>
            <a:ext cx="7963958" cy="4778375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FE24B0-4DD2-FEDE-6BF8-ADE28B4F2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BE4723-FD51-D863-6173-13FC2AB25BF7}"/>
              </a:ext>
            </a:extLst>
          </p:cNvPr>
          <p:cNvSpPr txBox="1"/>
          <p:nvPr/>
        </p:nvSpPr>
        <p:spPr>
          <a:xfrm>
            <a:off x="2114021" y="5858108"/>
            <a:ext cx="7963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Comparison of measured and simulated laminar burning velocity of NH3/CH4/air flames under stoichiometric condition and 1 atm of pressure.</a:t>
            </a:r>
          </a:p>
        </p:txBody>
      </p:sp>
    </p:spTree>
    <p:extLst>
      <p:ext uri="{BB962C8B-B14F-4D97-AF65-F5344CB8AC3E}">
        <p14:creationId xmlns:p14="http://schemas.microsoft.com/office/powerpoint/2010/main" val="3886026801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新しいプレゼンテーショ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3063</TotalTime>
  <Words>981</Words>
  <Application>Microsoft Office PowerPoint</Application>
  <PresentationFormat>Widescreen</PresentationFormat>
  <Paragraphs>120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Validation – NH3/H2/air</vt:lpstr>
      <vt:lpstr>Validation – NH3/CH4/air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95</cp:revision>
  <cp:lastPrinted>2013-02-26T06:20:36Z</cp:lastPrinted>
  <dcterms:created xsi:type="dcterms:W3CDTF">2007-10-25T08:30:33Z</dcterms:created>
  <dcterms:modified xsi:type="dcterms:W3CDTF">2026-10-20T07:31:05Z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