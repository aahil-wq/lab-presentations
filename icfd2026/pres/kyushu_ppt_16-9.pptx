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48" r:id="rId4"/>
  </p:sldMasterIdLst>
  <p:notesMasterIdLst>
    <p:notesMasterId r:id="rId18"/>
  </p:notesMasterIdLst>
  <p:handoutMasterIdLst>
    <p:handoutMasterId r:id="rId19"/>
  </p:handoutMasterIdLst>
  <p:sldIdLst>
    <p:sldId id="260" r:id="rId5"/>
    <p:sldId id="262" r:id="rId6"/>
    <p:sldId id="270" r:id="rId7"/>
    <p:sldId id="263" r:id="rId8"/>
    <p:sldId id="266" r:id="rId9"/>
    <p:sldId id="271" r:id="rId10"/>
    <p:sldId id="272" r:id="rId11"/>
    <p:sldId id="274" r:id="rId12"/>
    <p:sldId id="273" r:id="rId13"/>
    <p:sldId id="275" r:id="rId14"/>
    <p:sldId id="277" r:id="rId15"/>
    <p:sldId id="278" r:id="rId16"/>
    <p:sldId id="280" r:id="rId17"/>
  </p:sldIdLst>
  <p:sldSz cx="12192000" cy="6858000"/>
  <p:notesSz cx="9144000" cy="6858000"/>
  <p:defaultTextStyle>
    <a:defPPr>
      <a:defRPr lang="ja-JP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4" frameSlides="1"/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2" autoAdjust="0"/>
    <p:restoredTop sz="89805" autoAdjust="0"/>
  </p:normalViewPr>
  <p:slideViewPr>
    <p:cSldViewPr showGuides="1">
      <p:cViewPr varScale="1">
        <p:scale>
          <a:sx n="105" d="100"/>
          <a:sy n="105" d="100"/>
        </p:scale>
        <p:origin x="798" y="10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3" name="日付プレースホルダ 2"/>
          <p:cNvSpPr>
            <a:spLocks noGrp="1"/>
          </p:cNvSpPr>
          <p:nvPr>
            <p:ph type="dt" sz="quarter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Arial" charset="0"/>
                <a:ea typeface="ＭＳ Ｐゴシック" pitchFamily="-1" charset="-128"/>
              </a:defRPr>
            </a:lvl1pPr>
          </a:lstStyle>
          <a:p>
            <a:pPr>
              <a:defRPr/>
            </a:pPr>
            <a:fld id="{D5333078-AEFE-41B4-B904-59855D190F9C}" type="datetime1">
              <a:rPr lang="ja-JP" altLang="en-US"/>
              <a:pPr>
                <a:defRPr/>
              </a:pPr>
              <a:t>2026/10/15</a:t>
            </a:fld>
            <a:endParaRPr lang="ja-JP" altLang="en-US"/>
          </a:p>
        </p:txBody>
      </p:sp>
      <p:sp>
        <p:nvSpPr>
          <p:cNvPr id="4" name="フッター プレースホルダ 3"/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 hangingPunct="1">
              <a:defRPr sz="1200">
                <a:latin typeface="Arial" pitchFamily="-1" charset="0"/>
                <a:ea typeface="ＭＳ Ｐゴシック" pitchFamily="-1" charset="-128"/>
                <a:cs typeface="ＭＳ Ｐゴシック" pitchFamily="-1" charset="-128"/>
              </a:defRPr>
            </a:lvl1pPr>
          </a:lstStyle>
          <a:p>
            <a:pPr>
              <a:defRPr/>
            </a:pPr>
            <a:endParaRPr lang="ja-JP" altLang="en-US"/>
          </a:p>
        </p:txBody>
      </p:sp>
      <p:sp>
        <p:nvSpPr>
          <p:cNvPr id="5" name="スライド番号プレースホルダ 4"/>
          <p:cNvSpPr>
            <a:spLocks noGrp="1"/>
          </p:cNvSpPr>
          <p:nvPr>
            <p:ph type="sldNum" sz="quarter" idx="3"/>
          </p:nvPr>
        </p:nvSpPr>
        <p:spPr>
          <a:xfrm>
            <a:off x="5180013" y="6513513"/>
            <a:ext cx="3962400" cy="3429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/>
            </a:lvl1pPr>
          </a:lstStyle>
          <a:p>
            <a:pPr>
              <a:defRPr/>
            </a:pPr>
            <a:fld id="{5C127D46-609E-4A47-9628-6D23C3EBD993}" type="slidenum">
              <a:rPr lang="ja-JP" altLang="en-US"/>
              <a:pPr>
                <a:defRPr/>
              </a:pPr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307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286000" y="514350"/>
            <a:ext cx="4572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717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noProof="0"/>
              <a:t>マスタ テキストの書式設定</a:t>
            </a:r>
          </a:p>
          <a:p>
            <a:pPr lvl="1"/>
            <a:r>
              <a:rPr lang="ja-JP" altLang="en-US" noProof="0"/>
              <a:t>第 </a:t>
            </a:r>
            <a:r>
              <a:rPr lang="en-US" altLang="ja-JP" noProof="0"/>
              <a:t>2 </a:t>
            </a:r>
            <a:r>
              <a:rPr lang="ja-JP" altLang="en-US" noProof="0"/>
              <a:t>レベル</a:t>
            </a:r>
          </a:p>
          <a:p>
            <a:pPr lvl="2"/>
            <a:r>
              <a:rPr lang="ja-JP" altLang="en-US" noProof="0"/>
              <a:t>第 </a:t>
            </a:r>
            <a:r>
              <a:rPr lang="en-US" altLang="ja-JP" noProof="0"/>
              <a:t>3 </a:t>
            </a:r>
            <a:r>
              <a:rPr lang="ja-JP" altLang="en-US" noProof="0"/>
              <a:t>レベル</a:t>
            </a:r>
          </a:p>
          <a:p>
            <a:pPr lvl="3"/>
            <a:r>
              <a:rPr lang="ja-JP" altLang="en-US" noProof="0"/>
              <a:t>第 </a:t>
            </a:r>
            <a:r>
              <a:rPr lang="en-US" altLang="ja-JP" noProof="0"/>
              <a:t>4 </a:t>
            </a:r>
            <a:r>
              <a:rPr lang="ja-JP" altLang="en-US" noProof="0"/>
              <a:t>レベル</a:t>
            </a:r>
          </a:p>
          <a:p>
            <a:pPr lvl="4"/>
            <a:r>
              <a:rPr lang="ja-JP" altLang="en-US" noProof="0"/>
              <a:t>第 </a:t>
            </a:r>
            <a:r>
              <a:rPr lang="en-US" altLang="ja-JP" noProof="0"/>
              <a:t>5 </a:t>
            </a:r>
            <a:r>
              <a:rPr lang="ja-JP" altLang="en-US" noProof="0"/>
              <a:t>レベル</a:t>
            </a:r>
          </a:p>
        </p:txBody>
      </p:sp>
      <p:sp>
        <p:nvSpPr>
          <p:cNvPr id="717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kumimoji="1" sz="1200">
                <a:latin typeface="Arial" charset="0"/>
                <a:ea typeface="ＭＳ Ｐゴシック" pitchFamily="8" charset="-128"/>
                <a:cs typeface="+mn-cs"/>
              </a:defRPr>
            </a:lvl1pPr>
          </a:lstStyle>
          <a:p>
            <a:pPr>
              <a:defRPr/>
            </a:pPr>
            <a:endParaRPr lang="en-US" altLang="ja-JP"/>
          </a:p>
        </p:txBody>
      </p:sp>
      <p:sp>
        <p:nvSpPr>
          <p:cNvPr id="717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200" smtClean="0"/>
            </a:lvl1pPr>
          </a:lstStyle>
          <a:p>
            <a:pPr>
              <a:defRPr/>
            </a:pPr>
            <a:fld id="{ACB89EC6-F31B-4A18-90F4-42C2071FB0B9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ＭＳ Ｐゴシック" pitchFamily="-1" charset="-128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Arial" charset="0"/>
        <a:ea typeface="ＭＳ Ｐゴシック" pitchFamily="8" charset="-128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30000"/>
              </a:spcBef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>
              <a:spcBef>
                <a:spcPct val="0"/>
              </a:spcBef>
            </a:pPr>
            <a:fld id="{311CB0E0-5EC0-44C5-B763-B1433A66F5B8}" type="slidenum">
              <a:rPr lang="en-US" altLang="ja-JP"/>
              <a:pPr>
                <a:spcBef>
                  <a:spcPct val="0"/>
                </a:spcBef>
              </a:pPr>
              <a:t>0</a:t>
            </a:fld>
            <a:endParaRPr lang="en-US" altLang="ja-JP"/>
          </a:p>
        </p:txBody>
      </p:sp>
      <p:sp>
        <p:nvSpPr>
          <p:cNvPr id="614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solidFill>
            <a:srgbClr val="FFFFFF"/>
          </a:solidFill>
          <a:ln/>
        </p:spPr>
      </p:sp>
      <p:sp>
        <p:nvSpPr>
          <p:cNvPr id="6148" name="Rectangle 3"/>
          <p:cNvSpPr>
            <a:spLocks noGrp="1" noChangeArrowheads="1"/>
          </p:cNvSpPr>
          <p:nvPr>
            <p:ph type="body" idx="1"/>
          </p:nvPr>
        </p:nvSpPr>
        <p:spPr>
          <a:solidFill>
            <a:srgbClr val="FFFFFF"/>
          </a:solidFill>
          <a:ln>
            <a:solidFill>
              <a:srgbClr val="000000"/>
            </a:solidFill>
          </a:ln>
        </p:spPr>
        <p:txBody>
          <a:bodyPr/>
          <a:lstStyle/>
          <a:p>
            <a:pPr eaLnBrk="1" hangingPunct="1"/>
            <a:endParaRPr lang="zh-CN" altLang="en-US">
              <a:latin typeface="Arial" panose="020B0604020202020204" pitchFamily="34" charset="0"/>
              <a:ea typeface="ＭＳ Ｐゴシック" panose="020B0600070205080204" pitchFamily="50" charset="-128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of combustor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5520118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53491242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1,2,3 control H radicals conc</a:t>
            </a:r>
          </a:p>
          <a:p>
            <a:r>
              <a:rPr lang="en-US" dirty="0"/>
              <a:t>1,2 control NH and NH2 conc</a:t>
            </a:r>
          </a:p>
          <a:p>
            <a:r>
              <a:rPr lang="en-US" dirty="0"/>
              <a:t>	NHx interact with H and OH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12665873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NH3/H2/air, phi 0.7, 1atm</a:t>
            </a:r>
          </a:p>
          <a:p>
            <a:r>
              <a:rPr lang="en-US" dirty="0"/>
              <a:t>NH3/H2/air, phi 1.3, 1atm</a:t>
            </a:r>
          </a:p>
          <a:p>
            <a:endParaRPr lang="en-US" dirty="0"/>
          </a:p>
          <a:p>
            <a:r>
              <a:rPr lang="en-US" dirty="0"/>
              <a:t>Unable to validate for elevated pressures due to a lack of experimental  data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ACB89EC6-F31B-4A18-90F4-42C2071FB0B9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57646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/>
          <p:cNvSpPr/>
          <p:nvPr userDrawn="1"/>
        </p:nvSpPr>
        <p:spPr bwMode="auto">
          <a:xfrm>
            <a:off x="0" y="836612"/>
            <a:ext cx="12192000" cy="3024188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pic>
        <p:nvPicPr>
          <p:cNvPr id="5" name="Picture 22" descr="F:\work\ppt template\02.png"/>
          <p:cNvPicPr>
            <a:picLocks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91944" y="5715000"/>
            <a:ext cx="1036638" cy="989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914400" y="1824030"/>
            <a:ext cx="10363200" cy="533400"/>
          </a:xfrm>
        </p:spPr>
        <p:txBody>
          <a:bodyPr lIns="0" tIns="0" rIns="0" bIns="0"/>
          <a:lstStyle>
            <a:lvl1pPr algn="ctr">
              <a:defRPr sz="4000"/>
            </a:lvl1pPr>
          </a:lstStyle>
          <a:p>
            <a:r>
              <a:rPr lang="ja-JP" altLang="en-US" dirty="0"/>
              <a:t>マスタ タイトルの書式設定</a:t>
            </a:r>
          </a:p>
        </p:txBody>
      </p:sp>
      <p:sp>
        <p:nvSpPr>
          <p:cNvPr id="512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914400" y="2581276"/>
            <a:ext cx="10363200" cy="990600"/>
          </a:xfrm>
        </p:spPr>
        <p:txBody>
          <a:bodyPr lIns="0" tIns="0" rIns="0" bIns="0"/>
          <a:lstStyle>
            <a:lvl1pPr marL="0" indent="0" algn="ctr">
              <a:defRPr>
                <a:solidFill>
                  <a:schemeClr val="bg1"/>
                </a:solidFill>
              </a:defRPr>
            </a:lvl1pPr>
          </a:lstStyle>
          <a:p>
            <a:r>
              <a:rPr lang="ja-JP" altLang="en-US"/>
              <a:t>マスタ サブタイトルの書式設定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4930093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2D94619-833C-3082-E36D-CB9CDB51EF8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479425" y="1268760"/>
            <a:ext cx="11233150" cy="4777682"/>
          </a:xfrm>
        </p:spPr>
        <p:txBody>
          <a:bodyPr/>
          <a:lstStyle/>
          <a:p>
            <a:pPr lvl="0"/>
            <a:endParaRPr lang="zh-CN" alt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0030BFF-6758-4814-A89A-12C821A76488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674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5">
            <a:extLst>
              <a:ext uri="{FF2B5EF4-FFF2-40B4-BE49-F238E27FC236}">
                <a16:creationId xmlns:a16="http://schemas.microsoft.com/office/drawing/2014/main" id="{067F8173-5283-2A94-3A1E-47BFD28546F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79424" y="1175793"/>
            <a:ext cx="5400675" cy="4537074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95999" y="1175792"/>
            <a:ext cx="5616575" cy="453707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endParaRPr lang="zh-CN" alt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E160AE0-185D-4321-8E65-BC536618BE0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2E46CE15-5F15-1313-98EE-AEDEA6DC053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095999" y="5856312"/>
            <a:ext cx="5616575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D5ED6500-7977-21FE-8D37-8358EE07C8F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81190" y="5853024"/>
            <a:ext cx="5398909" cy="380999"/>
          </a:xfrm>
        </p:spPr>
        <p:txBody>
          <a:bodyPr lIns="91440" tIns="45720" rIns="91440" bIns="45720" anchor="ctr"/>
          <a:lstStyle>
            <a:lvl1pPr>
              <a:buNone/>
              <a:defRPr sz="1400"/>
            </a:lvl1pPr>
          </a:lstStyle>
          <a:p>
            <a:pPr lvl="0"/>
            <a:r>
              <a:rPr lang="en-US" dirty="0"/>
              <a:t>Caption</a:t>
            </a:r>
          </a:p>
        </p:txBody>
      </p:sp>
    </p:spTree>
    <p:extLst>
      <p:ext uri="{BB962C8B-B14F-4D97-AF65-F5344CB8AC3E}">
        <p14:creationId xmlns:p14="http://schemas.microsoft.com/office/powerpoint/2010/main" val="33880348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2403382-8F18-4778-9452-65D2E15D548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E0EF656A-4A55-062A-6BF2-9F1B12AE7D8E}"/>
              </a:ext>
            </a:extLst>
          </p:cNvPr>
          <p:cNvSpPr>
            <a:spLocks noGrp="1" noChangeArrowheads="1"/>
          </p:cNvSpPr>
          <p:nvPr>
            <p:ph type="ftr" sz="quarter" idx="10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/>
            </a:lvl1pPr>
          </a:lstStyle>
          <a:p>
            <a:pPr algn="l">
              <a:defRPr/>
            </a:pPr>
            <a:r>
              <a:rPr lang="en-US" altLang="ja-JP" dirty="0"/>
              <a:t>Enter heading</a:t>
            </a:r>
          </a:p>
        </p:txBody>
      </p:sp>
    </p:spTree>
    <p:extLst>
      <p:ext uri="{BB962C8B-B14F-4D97-AF65-F5344CB8AC3E}">
        <p14:creationId xmlns:p14="http://schemas.microsoft.com/office/powerpoint/2010/main" val="247236777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5">
            <a:extLst>
              <a:ext uri="{FF2B5EF4-FFF2-40B4-BE49-F238E27FC236}">
                <a16:creationId xmlns:a16="http://schemas.microsoft.com/office/drawing/2014/main" id="{2B4EDC44-0D52-73DB-B591-E20D405B762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2000" y="260648"/>
            <a:ext cx="10014520" cy="381000"/>
          </a:xfrm>
        </p:spPr>
        <p:txBody>
          <a:bodyPr/>
          <a:lstStyle>
            <a:lvl1pPr>
              <a:defRPr sz="2300"/>
            </a:lvl1pPr>
          </a:lstStyle>
          <a:p>
            <a:r>
              <a:rPr lang="en-US" dirty="0"/>
              <a:t>Enter slide title</a:t>
            </a:r>
          </a:p>
        </p:txBody>
      </p:sp>
      <p:sp>
        <p:nvSpPr>
          <p:cNvPr id="3" name="Rectangle 6"/>
          <p:cNvSpPr>
            <a:spLocks noGrp="1" noChangeArrowheads="1"/>
          </p:cNvSpPr>
          <p:nvPr>
            <p:ph type="sldNum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0897F7D9-36AC-4513-BF5B-ED8221044084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8836010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正方形/長方形 7"/>
          <p:cNvSpPr/>
          <p:nvPr userDrawn="1"/>
        </p:nvSpPr>
        <p:spPr bwMode="auto">
          <a:xfrm>
            <a:off x="0" y="152400"/>
            <a:ext cx="12192000" cy="609600"/>
          </a:xfrm>
          <a:prstGeom prst="rect">
            <a:avLst/>
          </a:prstGeom>
          <a:solidFill>
            <a:srgbClr val="6D0029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hangingPunct="1">
              <a:defRPr/>
            </a:pPr>
            <a:endParaRPr kumimoji="1" lang="ja-JP" altLang="en-US"/>
          </a:p>
        </p:txBody>
      </p:sp>
      <p:sp>
        <p:nvSpPr>
          <p:cNvPr id="1027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479425" y="1077913"/>
            <a:ext cx="1123315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タイトルの書式設定</a:t>
            </a:r>
          </a:p>
        </p:txBody>
      </p:sp>
      <p:sp>
        <p:nvSpPr>
          <p:cNvPr id="1028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479425" y="1700212"/>
            <a:ext cx="11233150" cy="45370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0" tIns="0" rIns="0" bIns="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ja-JP" altLang="en-US" dirty="0"/>
              <a:t>マスタ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11239500" y="319088"/>
            <a:ext cx="558800" cy="2667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kumimoji="1" sz="1400" smtClean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fld id="{17B4CC19-3B93-43DB-8C34-99B821707AD7}" type="slidenum">
              <a:rPr lang="en-US" altLang="ja-JP"/>
              <a:pPr>
                <a:defRPr/>
              </a:pPr>
              <a:t>‹#›</a:t>
            </a:fld>
            <a:endParaRPr lang="en-US" altLang="ja-JP"/>
          </a:p>
        </p:txBody>
      </p:sp>
      <p:sp>
        <p:nvSpPr>
          <p:cNvPr id="1031" name="Rectangle 20"/>
          <p:cNvSpPr>
            <a:spLocks noChangeArrowheads="1"/>
          </p:cNvSpPr>
          <p:nvPr/>
        </p:nvSpPr>
        <p:spPr bwMode="auto">
          <a:xfrm>
            <a:off x="3149600" y="6511925"/>
            <a:ext cx="7823200" cy="325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eaLnBrk="1" hangingPunct="1">
              <a:defRPr/>
            </a:pPr>
            <a:endParaRPr lang="en-US" altLang="ja-JP" sz="1000" dirty="0">
              <a:solidFill>
                <a:srgbClr val="FF0000"/>
              </a:solidFill>
            </a:endParaRPr>
          </a:p>
        </p:txBody>
      </p:sp>
      <p:pic>
        <p:nvPicPr>
          <p:cNvPr id="1032" name="図 9" descr="OOU.png"/>
          <p:cNvPicPr>
            <a:picLocks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00" y="254000"/>
            <a:ext cx="457200" cy="4302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5">
            <a:extLst>
              <a:ext uri="{FF2B5EF4-FFF2-40B4-BE49-F238E27FC236}">
                <a16:creationId xmlns:a16="http://schemas.microsoft.com/office/drawing/2014/main" id="{D0B5011B-2F9A-5084-322D-595D07FD619E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>
          <a:xfrm>
            <a:off x="762000" y="260648"/>
            <a:ext cx="10014520" cy="381000"/>
          </a:xfrm>
          <a:prstGeom prst="rect">
            <a:avLst/>
          </a:prstGeom>
          <a:ln/>
        </p:spPr>
        <p:txBody>
          <a:bodyPr/>
          <a:lstStyle>
            <a:lvl1pPr algn="l">
              <a:defRPr sz="2300" baseline="0">
                <a:solidFill>
                  <a:schemeClr val="bg1"/>
                </a:solidFill>
              </a:defRPr>
            </a:lvl1pPr>
          </a:lstStyle>
          <a:p>
            <a:pPr>
              <a:defRPr/>
            </a:pPr>
            <a:r>
              <a:rPr lang="en-US" altLang="ja-JP" dirty="0"/>
              <a:t>Enter heading</a:t>
            </a:r>
            <a:endParaRPr lang="en-US" altLang="ja-JP" dirty="0">
              <a:solidFill>
                <a:schemeClr val="bg1"/>
              </a:solidFill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11" r:id="rId1"/>
    <p:sldLayoutId id="2147483801" r:id="rId2"/>
    <p:sldLayoutId id="2147483803" r:id="rId3"/>
    <p:sldLayoutId id="2147483805" r:id="rId4"/>
    <p:sldLayoutId id="2147483806" r:id="rId5"/>
  </p:sldLayoutIdLst>
  <p:hf hd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+mj-lt"/>
          <a:ea typeface="+mj-ea"/>
          <a:cs typeface="ＭＳ Ｐゴシック" pitchFamily="-1" charset="-128"/>
        </a:defRPr>
      </a:lvl1pPr>
      <a:lvl2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2pPr>
      <a:lvl3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3pPr>
      <a:lvl4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4pPr>
      <a:lvl5pPr algn="l" rtl="0" eaLnBrk="0" fontAlgn="base" hangingPunct="0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  <a:cs typeface="ＭＳ Ｐゴシック" pitchFamily="-1" charset="-128"/>
        </a:defRPr>
      </a:lvl5pPr>
      <a:lvl6pPr marL="4572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6pPr>
      <a:lvl7pPr marL="9144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7pPr>
      <a:lvl8pPr marL="13716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8pPr>
      <a:lvl9pPr marL="1828800" algn="l" rtl="0" fontAlgn="base">
        <a:spcBef>
          <a:spcPct val="0"/>
        </a:spcBef>
        <a:spcAft>
          <a:spcPct val="0"/>
        </a:spcAft>
        <a:defRPr kumimoji="1" sz="3200">
          <a:solidFill>
            <a:schemeClr val="bg1"/>
          </a:solidFill>
          <a:latin typeface="Arial" charset="0"/>
          <a:ea typeface="ＭＳ Ｐゴシック" pitchFamily="8" charset="-128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Char char="•"/>
        <a:defRPr kumimoji="1" sz="2600">
          <a:solidFill>
            <a:schemeClr val="tx1"/>
          </a:solidFill>
          <a:latin typeface="+mn-lt"/>
          <a:ea typeface="+mn-ea"/>
          <a:cs typeface="ＭＳ Ｐゴシック" pitchFamily="-1" charset="-128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har char="–"/>
        <a:defRPr kumimoji="1" sz="2200">
          <a:solidFill>
            <a:schemeClr val="tx1"/>
          </a:solidFill>
          <a:latin typeface="+mn-lt"/>
          <a:ea typeface="+mn-ea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har char="•"/>
        <a:defRPr kumimoji="1" sz="2000">
          <a:solidFill>
            <a:schemeClr val="tx1"/>
          </a:solidFill>
          <a:latin typeface="+mn-lt"/>
          <a:ea typeface="+mn-ea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tx1"/>
          </a:solidFill>
          <a:latin typeface="+mn-lt"/>
          <a:ea typeface="+mn-ea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har char="»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3840" userDrawn="1">
          <p15:clr>
            <a:srgbClr val="F26B43"/>
          </p15:clr>
        </p15:guide>
        <p15:guide id="2" orient="horz" pos="2160" userDrawn="1">
          <p15:clr>
            <a:srgbClr val="F26B43"/>
          </p15:clr>
        </p15:guide>
        <p15:guide id="3" pos="3976" userDrawn="1">
          <p15:clr>
            <a:srgbClr val="F26B43"/>
          </p15:clr>
        </p15:guide>
        <p15:guide id="4" pos="4112" userDrawn="1">
          <p15:clr>
            <a:srgbClr val="F26B43"/>
          </p15:clr>
        </p15:guide>
        <p15:guide id="5" pos="4384" userDrawn="1">
          <p15:clr>
            <a:srgbClr val="F26B43"/>
          </p15:clr>
        </p15:guide>
        <p15:guide id="6" pos="4656" userDrawn="1">
          <p15:clr>
            <a:srgbClr val="F26B43"/>
          </p15:clr>
        </p15:guide>
        <p15:guide id="7" pos="4929" userDrawn="1">
          <p15:clr>
            <a:srgbClr val="F26B43"/>
          </p15:clr>
        </p15:guide>
        <p15:guide id="8" pos="5201" userDrawn="1">
          <p15:clr>
            <a:srgbClr val="F26B43"/>
          </p15:clr>
        </p15:guide>
        <p15:guide id="9" pos="5473" userDrawn="1">
          <p15:clr>
            <a:srgbClr val="F26B43"/>
          </p15:clr>
        </p15:guide>
        <p15:guide id="10" pos="5745" userDrawn="1">
          <p15:clr>
            <a:srgbClr val="F26B43"/>
          </p15:clr>
        </p15:guide>
        <p15:guide id="11" pos="6017" userDrawn="1">
          <p15:clr>
            <a:srgbClr val="F26B43"/>
          </p15:clr>
        </p15:guide>
        <p15:guide id="12" pos="6289" userDrawn="1">
          <p15:clr>
            <a:srgbClr val="F26B43"/>
          </p15:clr>
        </p15:guide>
        <p15:guide id="13" pos="6562" userDrawn="1">
          <p15:clr>
            <a:srgbClr val="F26B43"/>
          </p15:clr>
        </p15:guide>
        <p15:guide id="14" pos="6834" userDrawn="1">
          <p15:clr>
            <a:srgbClr val="F26B43"/>
          </p15:clr>
        </p15:guide>
        <p15:guide id="15" pos="7106" userDrawn="1">
          <p15:clr>
            <a:srgbClr val="F26B43"/>
          </p15:clr>
        </p15:guide>
        <p15:guide id="16" pos="7378" userDrawn="1">
          <p15:clr>
            <a:srgbClr val="F26B43"/>
          </p15:clr>
        </p15:guide>
        <p15:guide id="17" pos="7514" userDrawn="1">
          <p15:clr>
            <a:srgbClr val="F26B43"/>
          </p15:clr>
        </p15:guide>
        <p15:guide id="18" pos="7650" userDrawn="1">
          <p15:clr>
            <a:srgbClr val="F26B43"/>
          </p15:clr>
        </p15:guide>
        <p15:guide id="19" pos="3704" userDrawn="1">
          <p15:clr>
            <a:srgbClr val="F26B43"/>
          </p15:clr>
        </p15:guide>
        <p15:guide id="20" pos="3568" userDrawn="1">
          <p15:clr>
            <a:srgbClr val="F26B43"/>
          </p15:clr>
        </p15:guide>
        <p15:guide id="21" pos="3296" userDrawn="1">
          <p15:clr>
            <a:srgbClr val="F26B43"/>
          </p15:clr>
        </p15:guide>
        <p15:guide id="22" pos="3024" userDrawn="1">
          <p15:clr>
            <a:srgbClr val="F26B43"/>
          </p15:clr>
        </p15:guide>
        <p15:guide id="23" pos="2751" userDrawn="1">
          <p15:clr>
            <a:srgbClr val="F26B43"/>
          </p15:clr>
        </p15:guide>
        <p15:guide id="24" pos="2479" userDrawn="1">
          <p15:clr>
            <a:srgbClr val="F26B43"/>
          </p15:clr>
        </p15:guide>
        <p15:guide id="25" pos="2207" userDrawn="1">
          <p15:clr>
            <a:srgbClr val="F26B43"/>
          </p15:clr>
        </p15:guide>
        <p15:guide id="26" pos="1935" userDrawn="1">
          <p15:clr>
            <a:srgbClr val="F26B43"/>
          </p15:clr>
        </p15:guide>
        <p15:guide id="27" pos="1663" userDrawn="1">
          <p15:clr>
            <a:srgbClr val="F26B43"/>
          </p15:clr>
        </p15:guide>
        <p15:guide id="28" pos="1391" userDrawn="1">
          <p15:clr>
            <a:srgbClr val="F26B43"/>
          </p15:clr>
        </p15:guide>
        <p15:guide id="29" pos="1118" userDrawn="1">
          <p15:clr>
            <a:srgbClr val="F26B43"/>
          </p15:clr>
        </p15:guide>
        <p15:guide id="30" pos="846" userDrawn="1">
          <p15:clr>
            <a:srgbClr val="F26B43"/>
          </p15:clr>
        </p15:guide>
        <p15:guide id="31" pos="574" userDrawn="1">
          <p15:clr>
            <a:srgbClr val="F26B43"/>
          </p15:clr>
        </p15:guide>
        <p15:guide id="32" pos="302" userDrawn="1">
          <p15:clr>
            <a:srgbClr val="F26B43"/>
          </p15:clr>
        </p15:guide>
        <p15:guide id="33" pos="166" userDrawn="1">
          <p15:clr>
            <a:srgbClr val="F26B43"/>
          </p15:clr>
        </p15:guide>
        <p15:guide id="34" pos="30" userDrawn="1">
          <p15:clr>
            <a:srgbClr val="F26B43"/>
          </p15:clr>
        </p15:guide>
        <p15:guide id="35" orient="horz" pos="1888" userDrawn="1">
          <p15:clr>
            <a:srgbClr val="F26B43"/>
          </p15:clr>
        </p15:guide>
        <p15:guide id="36" orient="horz" pos="1616" userDrawn="1">
          <p15:clr>
            <a:srgbClr val="F26B43"/>
          </p15:clr>
        </p15:guide>
        <p15:guide id="37" orient="horz" pos="1344" userDrawn="1">
          <p15:clr>
            <a:srgbClr val="F26B43"/>
          </p15:clr>
        </p15:guide>
        <p15:guide id="38" orient="horz" pos="1071" userDrawn="1">
          <p15:clr>
            <a:srgbClr val="F26B43"/>
          </p15:clr>
        </p15:guide>
        <p15:guide id="39" orient="horz" pos="799" userDrawn="1">
          <p15:clr>
            <a:srgbClr val="F26B43"/>
          </p15:clr>
        </p15:guide>
        <p15:guide id="40" orient="horz" pos="527" userDrawn="1">
          <p15:clr>
            <a:srgbClr val="F26B43"/>
          </p15:clr>
        </p15:guide>
        <p15:guide id="41" orient="horz" pos="391" userDrawn="1">
          <p15:clr>
            <a:srgbClr val="F26B43"/>
          </p15:clr>
        </p15:guide>
        <p15:guide id="42" orient="horz" pos="255" userDrawn="1">
          <p15:clr>
            <a:srgbClr val="F26B43"/>
          </p15:clr>
        </p15:guide>
        <p15:guide id="44" orient="horz" pos="119" userDrawn="1">
          <p15:clr>
            <a:srgbClr val="F26B43"/>
          </p15:clr>
        </p15:guide>
        <p15:guide id="45" orient="horz" pos="187" userDrawn="1">
          <p15:clr>
            <a:srgbClr val="F26B43"/>
          </p15:clr>
        </p15:guide>
        <p15:guide id="46" orient="horz" pos="2432" userDrawn="1">
          <p15:clr>
            <a:srgbClr val="F26B43"/>
          </p15:clr>
        </p15:guide>
        <p15:guide id="47" orient="horz" pos="2704" userDrawn="1">
          <p15:clr>
            <a:srgbClr val="F26B43"/>
          </p15:clr>
        </p15:guide>
        <p15:guide id="48" orient="horz" pos="2976" userDrawn="1">
          <p15:clr>
            <a:srgbClr val="F26B43"/>
          </p15:clr>
        </p15:guide>
        <p15:guide id="49" orient="horz" pos="3249" userDrawn="1">
          <p15:clr>
            <a:srgbClr val="F26B43"/>
          </p15:clr>
        </p15:guide>
        <p15:guide id="50" orient="horz" pos="3521" userDrawn="1">
          <p15:clr>
            <a:srgbClr val="F26B43"/>
          </p15:clr>
        </p15:guide>
        <p15:guide id="51" orient="horz" pos="3793" userDrawn="1">
          <p15:clr>
            <a:srgbClr val="F26B43"/>
          </p15:clr>
        </p15:guide>
        <p15:guide id="52" orient="horz" pos="4065" userDrawn="1">
          <p15:clr>
            <a:srgbClr val="F26B43"/>
          </p15:clr>
        </p15:guide>
        <p15:guide id="53" orient="horz" pos="3929" userDrawn="1">
          <p15:clr>
            <a:srgbClr val="F26B43"/>
          </p15:clr>
        </p15:guide>
        <p15:guide id="54" orient="horz" pos="420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3" name="Rectangle 14"/>
          <p:cNvSpPr>
            <a:spLocks noGrp="1" noChangeArrowheads="1"/>
          </p:cNvSpPr>
          <p:nvPr>
            <p:ph type="ctrTitle"/>
          </p:nvPr>
        </p:nvSpPr>
        <p:spPr>
          <a:xfrm>
            <a:off x="695400" y="1866900"/>
            <a:ext cx="10801200" cy="533400"/>
          </a:xfrm>
        </p:spPr>
        <p:txBody>
          <a:bodyPr/>
          <a:lstStyle/>
          <a:p>
            <a:pPr eaLnBrk="1" hangingPunct="1"/>
            <a:r>
              <a:rPr lang="en-US" altLang="ja-JP" dirty="0"/>
              <a:t>Importance of N2Hx Reaction Pathways in Modelling of NH3/H2/Air Flame Chemistry</a:t>
            </a:r>
            <a:endParaRPr lang="ja-JP" altLang="en-US" dirty="0"/>
          </a:p>
        </p:txBody>
      </p:sp>
      <p:sp>
        <p:nvSpPr>
          <p:cNvPr id="5124" name="Rectangle 15"/>
          <p:cNvSpPr>
            <a:spLocks noChangeArrowheads="1"/>
          </p:cNvSpPr>
          <p:nvPr/>
        </p:nvSpPr>
        <p:spPr bwMode="auto">
          <a:xfrm>
            <a:off x="2095500" y="4077071"/>
            <a:ext cx="8039100" cy="65929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Department of Mechanical Engineering, Reactive Gas Dynamics</a:t>
            </a:r>
            <a:endParaRPr lang="ja-JP" altLang="en-US" sz="1600" dirty="0"/>
          </a:p>
          <a:p>
            <a:pPr algn="ctr" eaLnBrk="1" hangingPunct="1">
              <a:lnSpc>
                <a:spcPct val="80000"/>
              </a:lnSpc>
              <a:buFontTx/>
              <a:buNone/>
            </a:pPr>
            <a:r>
              <a:rPr lang="en-US" altLang="ja-JP" sz="1600" dirty="0"/>
              <a:t>UROTHIYIL Aahil Ashraf</a:t>
            </a:r>
            <a:endParaRPr lang="ja-JP" altLang="en-US" sz="1600" dirty="0"/>
          </a:p>
        </p:txBody>
      </p:sp>
      <p:sp>
        <p:nvSpPr>
          <p:cNvPr id="5125" name="Rectangle 16"/>
          <p:cNvSpPr>
            <a:spLocks noChangeArrowheads="1"/>
          </p:cNvSpPr>
          <p:nvPr/>
        </p:nvSpPr>
        <p:spPr bwMode="auto">
          <a:xfrm>
            <a:off x="2057400" y="4981575"/>
            <a:ext cx="8077200" cy="381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kumimoji="1" sz="26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1pPr>
            <a:lvl2pPr marL="742950" indent="-285750">
              <a:spcBef>
                <a:spcPct val="20000"/>
              </a:spcBef>
              <a:buChar char="–"/>
              <a:defRPr kumimoji="1" sz="22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2pPr>
            <a:lvl3pPr marL="1143000" indent="-228600">
              <a:spcBef>
                <a:spcPct val="20000"/>
              </a:spcBef>
              <a:buChar char="•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3pPr>
            <a:lvl4pPr marL="1600200" indent="-228600">
              <a:spcBef>
                <a:spcPct val="20000"/>
              </a:spcBef>
              <a:buChar char="–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4pPr>
            <a:lvl5pPr marL="2057400" indent="-228600">
              <a:spcBef>
                <a:spcPct val="20000"/>
              </a:spcBef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kumimoji="1" sz="2000">
                <a:solidFill>
                  <a:schemeClr val="tx1"/>
                </a:solidFill>
                <a:latin typeface="Arial" panose="020B0604020202020204" pitchFamily="34" charset="0"/>
                <a:ea typeface="ＭＳ Ｐゴシック" panose="020B0600070205080204" pitchFamily="50" charset="-128"/>
              </a:defRPr>
            </a:lvl9pPr>
          </a:lstStyle>
          <a:p>
            <a:pPr algn="ctr" eaLnBrk="1" hangingPunct="1">
              <a:buFontTx/>
              <a:buNone/>
            </a:pPr>
            <a:r>
              <a:rPr lang="en-US" altLang="ja-JP" sz="1400" dirty="0"/>
              <a:t>2026</a:t>
            </a:r>
            <a:r>
              <a:rPr lang="ja-JP" altLang="en-US" sz="1400" dirty="0"/>
              <a:t>年</a:t>
            </a:r>
            <a:r>
              <a:rPr lang="en-US" altLang="ja-JP" sz="1400" dirty="0"/>
              <a:t>11</a:t>
            </a:r>
            <a:r>
              <a:rPr lang="ja-JP" altLang="en-US" sz="1400" dirty="0"/>
              <a:t>月</a:t>
            </a:r>
            <a:r>
              <a:rPr lang="en-US" altLang="ja-JP" sz="1400" dirty="0"/>
              <a:t>8</a:t>
            </a:r>
            <a:r>
              <a:rPr lang="ja-JP" altLang="en-US" sz="1400" dirty="0"/>
              <a:t>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4B4F2-C63C-5DE9-7FC9-FE69749013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Numerically simulating ammonia blends is necessary for combustion system development.</a:t>
            </a:r>
          </a:p>
          <a:p>
            <a:r>
              <a:rPr lang="en-GB" dirty="0"/>
              <a:t>Large-scale or 3D modelling with detailed chemical kinetics mechanisms increases computational cost.</a:t>
            </a:r>
          </a:p>
          <a:p>
            <a:r>
              <a:rPr lang="en-GB" dirty="0"/>
              <a:t>Reduced chemical kinetic mechanisms optimized for multiple ammonia blends and operating conditions is needed.</a:t>
            </a:r>
          </a:p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EA5088-C0AD-75B3-8C4C-E0A5062CB124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2C77F7-6B19-A10D-2766-1E0C45856CE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3971053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BBCF3C5-C505-2F53-DE0B-D375D6591B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Existing reduced chemical kinetics mechanisms target specific fuel blends for select operating conditions.</a:t>
            </a:r>
          </a:p>
          <a:p>
            <a:r>
              <a:rPr lang="en-US" dirty="0"/>
              <a:t>Elucidating reaction pathways particular to specific fuel blends helped develop a kinetics mechanism viable for a wider range of fuels.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ADF9EAA-9192-FDCC-4D2A-063BD1E6B9F5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Background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8C7E90D-ACB7-2538-743D-6A32390C70A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2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17637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947B9C2-34FB-85EB-31A8-4903822F1D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Develop a reduced kinetic mechanism optimized for NH3, NH3/CH4 and NH3 H2</a:t>
            </a:r>
          </a:p>
          <a:p>
            <a:pPr lvl="1"/>
            <a:r>
              <a:rPr lang="en-US" dirty="0"/>
              <a:t>Prioritizing unstretched laminar burning velocity predictions</a:t>
            </a:r>
          </a:p>
          <a:p>
            <a:pPr lvl="1"/>
            <a:r>
              <a:rPr lang="en-US" dirty="0"/>
              <a:t>Viable for cases with varying pressure and equivalence ratio</a:t>
            </a:r>
          </a:p>
          <a:p>
            <a:pPr lvl="1"/>
            <a:endParaRPr lang="en-US" dirty="0"/>
          </a:p>
          <a:p>
            <a:r>
              <a:rPr lang="en-US" dirty="0"/>
              <a:t>Validate the Present Mechanism with experimental flame speed measurements from literature</a:t>
            </a:r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F1A03BB-F8A1-2C62-6C60-379827C0D609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Objectives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4D1B0-445F-B9A3-2C06-E39516CC0EE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3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6994688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GB" dirty="0"/>
                  <a:t>Unstretched laminar burning velocity,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r>
                  <a:rPr lang="en-GB" dirty="0"/>
                  <a:t>, of premixed flames calculated with 1D unstretched adiabatic simulations</a:t>
                </a:r>
              </a:p>
              <a:p>
                <a:pPr lvl="1"/>
                <a:r>
                  <a:rPr lang="en-GB" dirty="0"/>
                  <a:t>Premixed Laminar Flame Speed Calculation model in ANSYS </a:t>
                </a:r>
                <a:r>
                  <a:rPr lang="en-GB" dirty="0" err="1"/>
                  <a:t>Chemkin</a:t>
                </a:r>
                <a:r>
                  <a:rPr lang="en-GB" dirty="0"/>
                  <a:t>-PRO used</a:t>
                </a:r>
              </a:p>
              <a:p>
                <a:pPr lvl="1"/>
                <a:r>
                  <a:rPr lang="en-GB" dirty="0"/>
                  <a:t>Computational domain of 10 cm</a:t>
                </a:r>
              </a:p>
              <a:p>
                <a:pPr lvl="1"/>
                <a:r>
                  <a:rPr lang="en-GB" dirty="0"/>
                  <a:t>Adaptive grid settings GRAD and CURV set to 0.01</a:t>
                </a:r>
              </a:p>
              <a:p>
                <a:pPr lvl="1"/>
                <a:endParaRPr lang="en-GB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the ratio of H</a:t>
                </a:r>
                <a:r>
                  <a:rPr lang="en-GB" baseline="-25000" dirty="0"/>
                  <a:t>2</a:t>
                </a:r>
                <a:r>
                  <a:rPr lang="en-GB" dirty="0"/>
                  <a:t> in the fuel, was varied</a:t>
                </a:r>
              </a:p>
              <a:p>
                <a:pPr lvl="1"/>
                <a:r>
                  <a:rPr lang="en-GB" dirty="0"/>
                  <a:t>Pressure was kept constant at 1 </a:t>
                </a:r>
                <a:r>
                  <a:rPr lang="en-GB" dirty="0" err="1"/>
                  <a:t>atm</a:t>
                </a:r>
                <a:endParaRPr lang="en-GB" dirty="0"/>
              </a:p>
              <a:p>
                <a:pPr lvl="1"/>
                <a:r>
                  <a:rPr lang="en-GB" dirty="0"/>
                  <a:t>Fuel-oxidizer ratio was maintained at stoichiometric equivalence ratio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4D5053B3-E379-D866-988F-F893A12247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A44C006-10F2-FB44-03BC-E8A6CB5B3CA1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Numerical Procedure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82D08A1-8A05-2D78-EF20-2ED66D21796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4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12407670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Present mechanism is based on the reduced mechanism developed by Okafor et al. (2019).</a:t>
                </a:r>
              </a:p>
              <a:p>
                <a:pPr lvl="1"/>
                <a:r>
                  <a:rPr lang="en-US" dirty="0"/>
                  <a:t>This mechanism already satisfactorily models laminar burning velocity of NH3/air and NH3/CH4/air flame.</a:t>
                </a:r>
              </a:p>
              <a:p>
                <a:pPr lvl="1"/>
                <a:r>
                  <a:rPr lang="en-US" dirty="0"/>
                  <a:t>Fails to model NH3/H2/air flames at hydrogen concentrations greater than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>
                        <a:latin typeface="Cambria Math" panose="02040503050406030204" pitchFamily="18" charset="0"/>
                      </a:rPr>
                      <m:t>0.3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Reaction mechanism by Gotama et al. (2022) was used to study the differences in ammonia and hydrogen kinetics interaction.</a:t>
                </a:r>
              </a:p>
              <a:p>
                <a:pPr lvl="1"/>
                <a:r>
                  <a:rPr lang="en-US" dirty="0"/>
                  <a:t>This mechanism was optimized for laminar burning velocity of NH3/H2/air flames.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362D3022-0FF1-75D1-578B-FB3189588C2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 r="-1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3B3B8E-6FEC-19F3-F26E-F023004FB6C6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7B048D-6E76-ED81-8B3C-72D4BFF9F66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5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9449743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794FDB1-5DD8-B9E7-A635-2847020C42D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D49CD3F-DDEB-35F0-1590-B4BEAB7342D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71506F-1891-8405-F7AF-B44D48DA9A2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6</a:t>
            </a:fld>
            <a:endParaRPr lang="en-US" altLang="ja-JP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5A53BA-7F1B-DA21-5845-6B18797F2D9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42161670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Mechanisms were compared using reaction pathways constructed with integrated rate of production (IROP) of major NH3 and H2 oxidation species.</a:t>
                </a:r>
              </a:p>
              <a:p>
                <a:r>
                  <a:rPr lang="en-US" b="0" dirty="0"/>
                  <a:t>IROP </a:t>
                </a:r>
                <a:r>
                  <a:rPr lang="en-US" dirty="0"/>
                  <a:t>was </a:t>
                </a:r>
                <a:r>
                  <a:rPr lang="en-US" b="0" dirty="0"/>
                  <a:t>calculated with the equation: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𝐼𝑅𝑂𝑃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̇"/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Flame used for the reaction pathways had hydrogen concentration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dirty="0"/>
                  <a:t> and equivalence ratio of 1.0 under atmospheric conditions.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F1BD33C3-07D8-6E24-C64B-DABA2A777C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68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D4E911-D27C-FA92-4BCB-CF7AE83B5A6B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6F2B3C-7422-F620-97FD-F2649A8DBD72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7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30751103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90D67F15-3E02-AC3D-E2FC-D73F68793F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407" y="1152907"/>
            <a:ext cx="10691186" cy="4043485"/>
          </a:xfrm>
        </p:spPr>
      </p:pic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B392FD-A7DC-53D3-86AA-59DB820A8B3D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Development of the Present Mech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E9C4219-3EB0-B365-10B3-08342118FE6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8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/>
              <p:nvPr/>
            </p:nvSpPr>
            <p:spPr>
              <a:xfrm>
                <a:off x="762000" y="5473387"/>
                <a:ext cx="10662592" cy="9079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600" dirty="0"/>
                  <a:t>			(a)						(b)</a:t>
                </a:r>
              </a:p>
              <a:p>
                <a:endParaRPr lang="en-US" sz="900" dirty="0"/>
              </a:p>
              <a:p>
                <a:r>
                  <a:rPr lang="en-US" sz="1400" dirty="0"/>
                  <a:t>Figure: Reaction pathway of NH3/H2/air flame 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400" b="0" i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400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sz="1400" b="0" i="1" smtClean="0">
                        <a:latin typeface="Cambria Math" panose="02040503050406030204" pitchFamily="18" charset="0"/>
                      </a:rPr>
                      <m:t>=0.5</m:t>
                    </m:r>
                  </m:oMath>
                </a14:m>
                <a:r>
                  <a:rPr lang="en-US" sz="1400" dirty="0"/>
                  <a:t> and equivalence ratio of 1.0 using (a) Okafor Reduced Mech and (b) Gotama Mech.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1E12F815-FBBD-6F5C-6657-204ABE3DAB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" y="5473387"/>
                <a:ext cx="10662592" cy="907941"/>
              </a:xfrm>
              <a:prstGeom prst="rect">
                <a:avLst/>
              </a:prstGeom>
              <a:blipFill>
                <a:blip r:embed="rId4"/>
                <a:stretch>
                  <a:fillRect l="-172" t="-2013" b="-60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FC4FD694-35C0-7260-D6C0-0D6F732C40DC}"/>
              </a:ext>
            </a:extLst>
          </p:cNvPr>
          <p:cNvSpPr txBox="1"/>
          <p:nvPr/>
        </p:nvSpPr>
        <p:spPr>
          <a:xfrm>
            <a:off x="2927648" y="457999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D85B8B6-BF69-9E8C-1E1C-1C7179046A5E}"/>
              </a:ext>
            </a:extLst>
          </p:cNvPr>
          <p:cNvSpPr txBox="1"/>
          <p:nvPr/>
        </p:nvSpPr>
        <p:spPr>
          <a:xfrm>
            <a:off x="8293608" y="4096512"/>
            <a:ext cx="576064" cy="107722"/>
          </a:xfrm>
          <a:prstGeom prst="rect">
            <a:avLst/>
          </a:prstGeom>
          <a:solidFill>
            <a:schemeClr val="bg1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700" dirty="0"/>
              <a:t>Unimolecular</a:t>
            </a:r>
          </a:p>
        </p:txBody>
      </p:sp>
    </p:spTree>
    <p:extLst>
      <p:ext uri="{BB962C8B-B14F-4D97-AF65-F5344CB8AC3E}">
        <p14:creationId xmlns:p14="http://schemas.microsoft.com/office/powerpoint/2010/main" val="155095252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sz="2400" dirty="0"/>
                  <a:t>NH2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4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↔</m:t>
                    </m:r>
                  </m:oMath>
                </a14:m>
                <a:r>
                  <a:rPr lang="en-US" sz="2400" dirty="0"/>
                  <a:t> N2H3 reaction pathway was not modelled in Okafor Reduced Mech.</a:t>
                </a:r>
              </a:p>
              <a:p>
                <a:pPr lvl="1"/>
                <a:r>
                  <a:rPr lang="en-US" sz="2000" dirty="0"/>
                  <a:t>Formation of N2H3: NH2 + NH = N2H3</a:t>
                </a:r>
              </a:p>
              <a:p>
                <a:pPr lvl="1"/>
                <a:r>
                  <a:rPr lang="en-US" sz="2000" dirty="0"/>
                  <a:t>Consumption of N2H3: N2H3 + H = 2NH2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H pathway in Gotama Mech was dominated by NNH = N2 + H</a:t>
                </a:r>
              </a:p>
              <a:p>
                <a:pPr lvl="1"/>
                <a:r>
                  <a:rPr lang="en-US" sz="2000" dirty="0"/>
                  <a:t>Contributes to H radical production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IROP of NH2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N2H2 pathway was higher in Gotama Mech.</a:t>
                </a:r>
              </a:p>
              <a:p>
                <a:pPr lvl="1"/>
                <a:r>
                  <a:rPr lang="en-US" sz="2000" dirty="0"/>
                  <a:t>NH2 + NH = N2H2 + H contributes the most to this pathway.</a:t>
                </a:r>
              </a:p>
              <a:p>
                <a:endParaRPr lang="en-US" sz="2400" dirty="0"/>
              </a:p>
              <a:p>
                <a:r>
                  <a:rPr lang="en-US" sz="2400" dirty="0"/>
                  <a:t>N2H2 formation further promotes N2H2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NNH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400" dirty="0"/>
                  <a:t> N2 pathways.</a:t>
                </a:r>
              </a:p>
            </p:txBody>
          </p:sp>
        </mc:Choice>
        <mc:Fallback xmlns="">
          <p:sp>
            <p:nvSpPr>
              <p:cNvPr id="2" name="Content Placeholder 1">
                <a:extLst>
                  <a:ext uri="{FF2B5EF4-FFF2-40B4-BE49-F238E27FC236}">
                    <a16:creationId xmlns:a16="http://schemas.microsoft.com/office/drawing/2014/main" id="{01D6D75C-6FC2-6EA7-E2AB-151231DC86E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574" t="-17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6CFE9-549C-79BA-CC3F-6CBB44812D7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Key Differences in Reaction Pathways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05443D-6165-FD4A-701C-68EF27D3926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9</a:t>
            </a:fld>
            <a:endParaRPr lang="en-US" altLang="ja-JP"/>
          </a:p>
        </p:txBody>
      </p:sp>
    </p:spTree>
    <p:extLst>
      <p:ext uri="{BB962C8B-B14F-4D97-AF65-F5344CB8AC3E}">
        <p14:creationId xmlns:p14="http://schemas.microsoft.com/office/powerpoint/2010/main" val="25483757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7D21729-252F-7E36-759C-D93FFD57956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14021" y="1124744"/>
            <a:ext cx="7963958" cy="4778375"/>
          </a:xfr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C233C76-7CB5-55C1-BA02-BE610482C5DA}"/>
              </a:ext>
            </a:extLst>
          </p:cNvPr>
          <p:cNvSpPr>
            <a:spLocks noGrp="1"/>
          </p:cNvSpPr>
          <p:nvPr>
            <p:ph type="ftr" sz="quarter" idx="4294967295"/>
          </p:nvPr>
        </p:nvSpPr>
        <p:spPr>
          <a:xfrm>
            <a:off x="762000" y="260648"/>
            <a:ext cx="10014520" cy="381000"/>
          </a:xfrm>
        </p:spPr>
        <p:txBody>
          <a:bodyPr/>
          <a:lstStyle/>
          <a:p>
            <a:pPr algn="l">
              <a:defRPr/>
            </a:pPr>
            <a:r>
              <a:rPr lang="en-US" altLang="ja-JP" dirty="0"/>
              <a:t>Present Mech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A806C8-22BF-309F-7BAD-17193533664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10</a:t>
            </a:fld>
            <a:endParaRPr lang="en-US" altLang="ja-JP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72E32E-5FFC-8A0E-F3C1-0B2075DAEA58}"/>
              </a:ext>
            </a:extLst>
          </p:cNvPr>
          <p:cNvSpPr txBox="1"/>
          <p:nvPr/>
        </p:nvSpPr>
        <p:spPr>
          <a:xfrm>
            <a:off x="2135560" y="5877619"/>
            <a:ext cx="792088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Experimental and numerical laminar burning velocity of NH3/H2/air flames under stoichiometric condition at various hydrogen concentrations.</a:t>
            </a:r>
          </a:p>
        </p:txBody>
      </p:sp>
    </p:spTree>
    <p:extLst>
      <p:ext uri="{BB962C8B-B14F-4D97-AF65-F5344CB8AC3E}">
        <p14:creationId xmlns:p14="http://schemas.microsoft.com/office/powerpoint/2010/main" val="6743057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063FDA88-BF78-529C-3D79-B84AA20436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ja-JP" dirty="0"/>
              <a:t>Validation – NH3/H2/air</a:t>
            </a:r>
            <a:endParaRPr lang="en-US" dirty="0"/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BF2CD2B9-CE34-FB16-8B3A-44603BA47C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79425" y="1824673"/>
            <a:ext cx="5400675" cy="3240405"/>
          </a:xfrm>
        </p:spPr>
      </p:pic>
      <p:pic>
        <p:nvPicPr>
          <p:cNvPr id="16" name="Content Placeholder 15">
            <a:extLst>
              <a:ext uri="{FF2B5EF4-FFF2-40B4-BE49-F238E27FC236}">
                <a16:creationId xmlns:a16="http://schemas.microsoft.com/office/drawing/2014/main" id="{E6E42C28-C199-16B1-3E72-670F6FBF430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096000" y="1808687"/>
            <a:ext cx="5400676" cy="324040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F7C3B0-688B-C2D3-14BD-087A84030E3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0030BFF-6758-4814-A89A-12C821A76488}" type="slidenum">
              <a:rPr lang="en-US" altLang="ja-JP" smtClean="0"/>
              <a:pPr>
                <a:defRPr/>
              </a:pPr>
              <a:t>11</a:t>
            </a:fld>
            <a:endParaRPr lang="en-US" altLang="ja-JP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/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1: Comparison of measured and simulated laminar burning velocity of NH3/H2/air flames under lean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=0.7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81874FCD-9653-949E-95EC-A8840D6A40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425" y="5229200"/>
                <a:ext cx="5400675" cy="738664"/>
              </a:xfrm>
              <a:prstGeom prst="rect">
                <a:avLst/>
              </a:prstGeom>
              <a:blipFill>
                <a:blip r:embed="rId5"/>
                <a:stretch>
                  <a:fillRect l="-339" t="-1653" r="-1129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/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dirty="0"/>
                  <a:t>Figure 2: Comparison of measured and simulated laminar burning velocity of NH3/H2/air flames under rich condition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𝜙</m:t>
                        </m:r>
                        <m:r>
                          <a:rPr lang="en-US" sz="1400" i="1">
                            <a:latin typeface="Cambria Math" panose="02040503050406030204" pitchFamily="18" charset="0"/>
                          </a:rPr>
                          <m:t>=1.4</m:t>
                        </m:r>
                      </m:e>
                    </m:d>
                  </m:oMath>
                </a14:m>
                <a:r>
                  <a:rPr lang="en-US" sz="1400" dirty="0"/>
                  <a:t> and 1 atm of pressure.</a:t>
                </a:r>
              </a:p>
            </p:txBody>
          </p:sp>
        </mc:Choice>
        <mc:Fallback xmlns=""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12E2CE2E-C09A-9D80-69DD-E3946452A5B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1" y="5129848"/>
                <a:ext cx="5400676" cy="738664"/>
              </a:xfrm>
              <a:prstGeom prst="rect">
                <a:avLst/>
              </a:prstGeom>
              <a:blipFill>
                <a:blip r:embed="rId6"/>
                <a:stretch>
                  <a:fillRect l="-339" t="-1653" r="-226" b="-743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014493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169D1A46-5D8F-4403-6081-82DF5F8FD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Validation – NH3/CH4/air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DB58D9ED-C762-5FD5-631A-D67C968D310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4021" y="1124744"/>
            <a:ext cx="7963958" cy="4778375"/>
          </a:xfr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FE24B0-4DD2-FEDE-6BF8-ADE28B4F2D1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E160AE0-185D-4321-8E65-BC536618BE04}" type="slidenum">
              <a:rPr lang="en-US" altLang="ja-JP" smtClean="0"/>
              <a:pPr>
                <a:defRPr/>
              </a:pPr>
              <a:t>12</a:t>
            </a:fld>
            <a:endParaRPr lang="en-US" altLang="ja-JP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1BE4723-FD51-D863-6173-13FC2AB25BF7}"/>
              </a:ext>
            </a:extLst>
          </p:cNvPr>
          <p:cNvSpPr txBox="1"/>
          <p:nvPr/>
        </p:nvSpPr>
        <p:spPr>
          <a:xfrm>
            <a:off x="2114021" y="5858108"/>
            <a:ext cx="79639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Figure: Comparison of measured and simulated laminar burning velocity of NH3/CH4/air flames under stoichiometric condition and 1 atm of pressure.</a:t>
            </a:r>
          </a:p>
        </p:txBody>
      </p:sp>
    </p:spTree>
    <p:extLst>
      <p:ext uri="{BB962C8B-B14F-4D97-AF65-F5344CB8AC3E}">
        <p14:creationId xmlns:p14="http://schemas.microsoft.com/office/powerpoint/2010/main" val="3886026801"/>
      </p:ext>
    </p:extLst>
  </p:cSld>
  <p:clrMapOvr>
    <a:masterClrMapping/>
  </p:clrMapOvr>
</p:sld>
</file>

<file path=ppt/theme/theme1.xml><?xml version="1.0" encoding="utf-8"?>
<a:theme xmlns:a="http://schemas.openxmlformats.org/drawingml/2006/main" name="新しいプレゼンテーション">
  <a:themeElements>
    <a:clrScheme name="新しいプレゼンテーション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新しいプレゼンテーション">
      <a:majorFont>
        <a:latin typeface="Arial"/>
        <a:ea typeface="ＭＳ Ｐゴシック"/>
        <a:cs typeface=""/>
      </a:majorFont>
      <a:minorFont>
        <a:latin typeface="Arial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新しいプレゼンテーション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新しいプレゼンテーション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新しいプレゼンテーション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AC715DFC87AEC746B6E619DC903AC002" ma:contentTypeVersion="13" ma:contentTypeDescription="新しいドキュメントを作成します。" ma:contentTypeScope="" ma:versionID="aa17f1492cbf83ee66dd3c5755e3c0c8">
  <xsd:schema xmlns:xsd="http://www.w3.org/2001/XMLSchema" xmlns:xs="http://www.w3.org/2001/XMLSchema" xmlns:p="http://schemas.microsoft.com/office/2006/metadata/properties" xmlns:ns3="4c4639b9-ffc3-40db-9ad9-f2d2fa56049e" xmlns:ns4="5300894c-015e-4e73-9e9a-c62eb38f0dbe" targetNamespace="http://schemas.microsoft.com/office/2006/metadata/properties" ma:root="true" ma:fieldsID="972fc8aede851579bc776d06a2daffa5" ns3:_="" ns4:_="">
    <xsd:import namespace="4c4639b9-ffc3-40db-9ad9-f2d2fa56049e"/>
    <xsd:import namespace="5300894c-015e-4e73-9e9a-c62eb38f0dbe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  <xsd:element ref="ns3:MediaServiceLocation" minOccurs="0"/>
                <xsd:element ref="ns3:MediaServiceAutoKeyPoints" minOccurs="0"/>
                <xsd:element ref="ns3:MediaServiceKeyPoints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c4639b9-ffc3-40db-9ad9-f2d2fa5604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300894c-015e-4e73-9e9a-c62eb38f0db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共有相手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共有相手の詳細情報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20" nillable="true" ma:displayName="共有のヒントのハッシュ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ABEC41F-200F-4D36-8A42-5C9C1537445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c4639b9-ffc3-40db-9ad9-f2d2fa56049e"/>
    <ds:schemaRef ds:uri="5300894c-015e-4e73-9e9a-c62eb38f0db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9C6B76C4-5C7C-488F-A583-DEEA7B62FA0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FD0DF8EC-7DE8-4F6C-8A29-3A49F665EFE3}">
  <ds:schemaRefs>
    <ds:schemaRef ds:uri="http://purl.org/dc/elements/1.1/"/>
    <ds:schemaRef ds:uri="http://purl.org/dc/dcmitype/"/>
    <ds:schemaRef ds:uri="4c4639b9-ffc3-40db-9ad9-f2d2fa56049e"/>
    <ds:schemaRef ds:uri="http://schemas.microsoft.com/office/2006/documentManagement/types"/>
    <ds:schemaRef ds:uri="http://www.w3.org/XML/1998/namespace"/>
    <ds:schemaRef ds:uri="http://schemas.openxmlformats.org/package/2006/metadata/core-properties"/>
    <ds:schemaRef ds:uri="http://purl.org/dc/terms/"/>
    <ds:schemaRef ds:uri="http://schemas.microsoft.com/office/infopath/2007/PartnerControls"/>
    <ds:schemaRef ds:uri="5300894c-015e-4e73-9e9a-c62eb38f0dbe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1373</TotalTime>
  <Words>746</Words>
  <Application>Microsoft Office PowerPoint</Application>
  <PresentationFormat>Widescreen</PresentationFormat>
  <Paragraphs>91</Paragraphs>
  <Slides>13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Cambria Math</vt:lpstr>
      <vt:lpstr>新しいプレゼンテーション</vt:lpstr>
      <vt:lpstr>Importance of N2Hx Reaction Pathways in Modelling of NH3/H2/Air Flame Chemistry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Validation – NH3/H2/air</vt:lpstr>
      <vt:lpstr>Validation – NH3/CH4/air</vt:lpstr>
    </vt:vector>
  </TitlesOfParts>
  <Company>Ihara . lab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UIプロジェクトX</dc:title>
  <dc:creator>森永 正樹</dc:creator>
  <cp:lastModifiedBy>Urothiyil Aahil Ashraf</cp:lastModifiedBy>
  <cp:revision>92</cp:revision>
  <cp:lastPrinted>2013-02-26T06:20:36Z</cp:lastPrinted>
  <dcterms:created xsi:type="dcterms:W3CDTF">2007-10-25T08:30:33Z</dcterms:created>
  <dcterms:modified xsi:type="dcterms:W3CDTF">2026-10-15T02:29:01Z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0x010100AC715DFC87AEC746B6E619DC903AC002</vt:lpwstr>
  </property>
</Properties>
</file>