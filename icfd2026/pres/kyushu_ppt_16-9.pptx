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7.xml" ContentType="application/inkml+xml"/>
  <Override PartName="/ppt/ink/ink8.xml" ContentType="application/inkml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ink/ink9.xml" ContentType="application/inkml+xml"/>
  <Override PartName="/ppt/ink/ink10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60" r:id="rId5"/>
    <p:sldId id="262" r:id="rId6"/>
    <p:sldId id="270" r:id="rId7"/>
    <p:sldId id="263" r:id="rId8"/>
    <p:sldId id="271" r:id="rId9"/>
    <p:sldId id="266" r:id="rId10"/>
    <p:sldId id="284" r:id="rId11"/>
    <p:sldId id="272" r:id="rId12"/>
    <p:sldId id="274" r:id="rId13"/>
    <p:sldId id="291" r:id="rId14"/>
    <p:sldId id="273" r:id="rId15"/>
    <p:sldId id="281" r:id="rId16"/>
    <p:sldId id="287" r:id="rId17"/>
    <p:sldId id="285" r:id="rId18"/>
    <p:sldId id="290" r:id="rId19"/>
    <p:sldId id="288" r:id="rId20"/>
    <p:sldId id="286" r:id="rId21"/>
    <p:sldId id="283" r:id="rId22"/>
    <p:sldId id="277" r:id="rId23"/>
    <p:sldId id="278" r:id="rId24"/>
    <p:sldId id="280" r:id="rId25"/>
    <p:sldId id="289" r:id="rId26"/>
  </p:sldIdLst>
  <p:sldSz cx="12192000" cy="6858000"/>
  <p:notesSz cx="9144000" cy="6858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0D0029"/>
    <a:srgbClr val="6D0029"/>
    <a:srgbClr val="850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9805" autoAdjust="0"/>
  </p:normalViewPr>
  <p:slideViewPr>
    <p:cSldViewPr showGuides="1">
      <p:cViewPr varScale="1">
        <p:scale>
          <a:sx n="117" d="100"/>
          <a:sy n="117" d="100"/>
        </p:scale>
        <p:origin x="31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gd\Documents\lab\validating_abe\compiled_datasets\NNH_irop_comparis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gd\Documents\lab\validating_abe\compiled_datasets\NNH_irop_comparis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gd\Documents\lab\validating_abe\compiled_datasets\H_irop_comparis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Gotama Mech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N2H2+H&lt;=&gt;NNH+H2</c:v>
                </c:pt>
                <c:pt idx="1">
                  <c:v>N2H2+NH2&lt;=&gt;NNH+NH3</c:v>
                </c:pt>
                <c:pt idx="2">
                  <c:v>N2H2+NH&lt;=&gt;NNH+NH2</c:v>
                </c:pt>
                <c:pt idx="3">
                  <c:v>N2H2+O&lt;=&gt;NNH+OH</c:v>
                </c:pt>
                <c:pt idx="4">
                  <c:v>N2H2+OH&lt;=&gt;NNH+H2O</c:v>
                </c:pt>
                <c:pt idx="5">
                  <c:v>NH2+NO&lt;=&gt;NNH+OH</c:v>
                </c:pt>
                <c:pt idx="6">
                  <c:v>N2+H+O2&lt;=&gt;NNH+O2</c:v>
                </c:pt>
                <c:pt idx="7">
                  <c:v>N2+HO2&lt;=&gt;NNH+O2</c:v>
                </c:pt>
                <c:pt idx="8">
                  <c:v>NNH+O&lt;=&gt;N2O+H</c:v>
                </c:pt>
                <c:pt idx="9">
                  <c:v>NH+NO&lt;=&gt;NNH+O</c:v>
                </c:pt>
                <c:pt idx="10">
                  <c:v>N2+H&lt;=&gt;NNH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2.5966644891776111E-5</c:v>
                </c:pt>
                <c:pt idx="1">
                  <c:v>5.5731784667542734E-7</c:v>
                </c:pt>
                <c:pt idx="2">
                  <c:v>2.7723189417490372E-7</c:v>
                </c:pt>
                <c:pt idx="3">
                  <c:v>2.088139530090735E-6</c:v>
                </c:pt>
                <c:pt idx="4">
                  <c:v>2.0986213910154019E-6</c:v>
                </c:pt>
                <c:pt idx="5">
                  <c:v>1.2587541882385521E-5</c:v>
                </c:pt>
                <c:pt idx="6" formatCode="0.00E+00">
                  <c:v>1.0951136365138801E-6</c:v>
                </c:pt>
                <c:pt idx="8">
                  <c:v>5.6729326926122485E-7</c:v>
                </c:pt>
                <c:pt idx="9" formatCode="0.00E+00">
                  <c:v>-2.2900205097581799E-6</c:v>
                </c:pt>
                <c:pt idx="10">
                  <c:v>-4.5189356841609982E-5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AB-4ACC-A456-98BAFBBBDB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Okafor Reduced Mech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N2H2+H&lt;=&gt;NNH+H2</c:v>
                </c:pt>
                <c:pt idx="1">
                  <c:v>N2H2+NH2&lt;=&gt;NNH+NH3</c:v>
                </c:pt>
                <c:pt idx="2">
                  <c:v>N2H2+NH&lt;=&gt;NNH+NH2</c:v>
                </c:pt>
                <c:pt idx="3">
                  <c:v>N2H2+O&lt;=&gt;NNH+OH</c:v>
                </c:pt>
                <c:pt idx="4">
                  <c:v>N2H2+OH&lt;=&gt;NNH+H2O</c:v>
                </c:pt>
                <c:pt idx="5">
                  <c:v>NH2+NO&lt;=&gt;NNH+OH</c:v>
                </c:pt>
                <c:pt idx="6">
                  <c:v>N2+H+O2&lt;=&gt;NNH+O2</c:v>
                </c:pt>
                <c:pt idx="7">
                  <c:v>N2+HO2&lt;=&gt;NNH+O2</c:v>
                </c:pt>
                <c:pt idx="8">
                  <c:v>NNH+O&lt;=&gt;N2O+H</c:v>
                </c:pt>
                <c:pt idx="9">
                  <c:v>NH+NO&lt;=&gt;NNH+O</c:v>
                </c:pt>
                <c:pt idx="10">
                  <c:v>N2+H&lt;=&gt;NNH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8.3124104602345651E-6</c:v>
                </c:pt>
                <c:pt idx="3">
                  <c:v>1.2241952965931151E-6</c:v>
                </c:pt>
                <c:pt idx="4">
                  <c:v>1.1700379112220069E-6</c:v>
                </c:pt>
                <c:pt idx="5">
                  <c:v>7.6920087213263838E-6</c:v>
                </c:pt>
                <c:pt idx="6" formatCode="0.00E+00">
                  <c:v>2.1068459120273401E-6</c:v>
                </c:pt>
                <c:pt idx="7" formatCode="0.00E+00">
                  <c:v>8.4939645528436207E-6</c:v>
                </c:pt>
                <c:pt idx="8">
                  <c:v>5.9496351187586574E-7</c:v>
                </c:pt>
                <c:pt idx="9" formatCode="0.00E+00">
                  <c:v>-1.86031616392256E-6</c:v>
                </c:pt>
                <c:pt idx="10">
                  <c:v>-1.025310337946293E-5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AB-4ACC-A456-98BAFBBBDB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58492576"/>
        <c:axId val="558493056"/>
      </c:barChart>
      <c:catAx>
        <c:axId val="5584925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493056"/>
        <c:crosses val="autoZero"/>
        <c:auto val="1"/>
        <c:lblAlgn val="ctr"/>
        <c:lblOffset val="100"/>
        <c:noMultiLvlLbl val="0"/>
      </c:catAx>
      <c:valAx>
        <c:axId val="558493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49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Gotama Mech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N2H2+H&lt;=&gt;NNH+H2</c:v>
                </c:pt>
                <c:pt idx="1">
                  <c:v>N2H2+NH2&lt;=&gt;NNH+NH3</c:v>
                </c:pt>
                <c:pt idx="2">
                  <c:v>N2H2+NH&lt;=&gt;NNH+NH2</c:v>
                </c:pt>
                <c:pt idx="3">
                  <c:v>N2H2+O&lt;=&gt;NNH+OH</c:v>
                </c:pt>
                <c:pt idx="4">
                  <c:v>N2H2+OH&lt;=&gt;NNH+H2O</c:v>
                </c:pt>
                <c:pt idx="5">
                  <c:v>NH2+NO&lt;=&gt;NNH+OH</c:v>
                </c:pt>
                <c:pt idx="6">
                  <c:v>N2+H+O2&lt;=&gt;NNH+O2</c:v>
                </c:pt>
                <c:pt idx="7">
                  <c:v>N2+HO2&lt;=&gt;NNH+O2</c:v>
                </c:pt>
                <c:pt idx="8">
                  <c:v>NNH+O&lt;=&gt;N2O+H</c:v>
                </c:pt>
                <c:pt idx="9">
                  <c:v>NH+NO&lt;=&gt;NNH+O</c:v>
                </c:pt>
                <c:pt idx="10">
                  <c:v>N2+H&lt;=&gt;NNH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2.5966644891776111E-5</c:v>
                </c:pt>
                <c:pt idx="1">
                  <c:v>5.5731784667542734E-7</c:v>
                </c:pt>
                <c:pt idx="2">
                  <c:v>2.7723189417490372E-7</c:v>
                </c:pt>
                <c:pt idx="3">
                  <c:v>2.088139530090735E-6</c:v>
                </c:pt>
                <c:pt idx="4">
                  <c:v>2.0986213910154019E-6</c:v>
                </c:pt>
                <c:pt idx="5">
                  <c:v>1.2587541882385521E-5</c:v>
                </c:pt>
                <c:pt idx="6" formatCode="0.00E+00">
                  <c:v>1.0951136365138801E-6</c:v>
                </c:pt>
                <c:pt idx="8">
                  <c:v>5.6729326926122485E-7</c:v>
                </c:pt>
                <c:pt idx="9" formatCode="0.00E+00">
                  <c:v>-2.2900205097581799E-6</c:v>
                </c:pt>
                <c:pt idx="10">
                  <c:v>-4.5189356841609982E-5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AB-4ACC-A456-98BAFBBBDB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Okafor Reduced Mech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N2H2+H&lt;=&gt;NNH+H2</c:v>
                </c:pt>
                <c:pt idx="1">
                  <c:v>N2H2+NH2&lt;=&gt;NNH+NH3</c:v>
                </c:pt>
                <c:pt idx="2">
                  <c:v>N2H2+NH&lt;=&gt;NNH+NH2</c:v>
                </c:pt>
                <c:pt idx="3">
                  <c:v>N2H2+O&lt;=&gt;NNH+OH</c:v>
                </c:pt>
                <c:pt idx="4">
                  <c:v>N2H2+OH&lt;=&gt;NNH+H2O</c:v>
                </c:pt>
                <c:pt idx="5">
                  <c:v>NH2+NO&lt;=&gt;NNH+OH</c:v>
                </c:pt>
                <c:pt idx="6">
                  <c:v>N2+H+O2&lt;=&gt;NNH+O2</c:v>
                </c:pt>
                <c:pt idx="7">
                  <c:v>N2+HO2&lt;=&gt;NNH+O2</c:v>
                </c:pt>
                <c:pt idx="8">
                  <c:v>NNH+O&lt;=&gt;N2O+H</c:v>
                </c:pt>
                <c:pt idx="9">
                  <c:v>NH+NO&lt;=&gt;NNH+O</c:v>
                </c:pt>
                <c:pt idx="10">
                  <c:v>N2+H&lt;=&gt;NNH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8.3124104602345651E-6</c:v>
                </c:pt>
                <c:pt idx="3">
                  <c:v>1.2241952965931151E-6</c:v>
                </c:pt>
                <c:pt idx="4">
                  <c:v>1.1700379112220069E-6</c:v>
                </c:pt>
                <c:pt idx="5">
                  <c:v>7.6920087213263838E-6</c:v>
                </c:pt>
                <c:pt idx="6" formatCode="0.00E+00">
                  <c:v>2.1068459120273401E-6</c:v>
                </c:pt>
                <c:pt idx="7" formatCode="0.00E+00">
                  <c:v>8.4939645528436207E-6</c:v>
                </c:pt>
                <c:pt idx="8">
                  <c:v>5.9496351187586574E-7</c:v>
                </c:pt>
                <c:pt idx="9" formatCode="0.00E+00">
                  <c:v>-1.86031616392256E-6</c:v>
                </c:pt>
                <c:pt idx="10">
                  <c:v>-1.025310337946293E-5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AB-4ACC-A456-98BAFBBBDB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58492576"/>
        <c:axId val="558493056"/>
      </c:barChart>
      <c:catAx>
        <c:axId val="5584925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493056"/>
        <c:crosses val="autoZero"/>
        <c:auto val="1"/>
        <c:lblAlgn val="ctr"/>
        <c:lblOffset val="100"/>
        <c:noMultiLvlLbl val="0"/>
      </c:catAx>
      <c:valAx>
        <c:axId val="558493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49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Sheet2!$C$1</c:f>
              <c:strCache>
                <c:ptCount val="1"/>
                <c:pt idx="0">
                  <c:v>Gotama Mech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Sheet2!$B$2:$B$17</c:f>
              <c:strCache>
                <c:ptCount val="16"/>
                <c:pt idx="0">
                  <c:v>2NH2&lt;=&gt;N2H3+H</c:v>
                </c:pt>
                <c:pt idx="1">
                  <c:v>O+OH&lt;=&gt;H+O2</c:v>
                </c:pt>
                <c:pt idx="2">
                  <c:v>H2+NO&lt;=&gt;HNO+H</c:v>
                </c:pt>
                <c:pt idx="3">
                  <c:v>NO+H2&lt;=&gt;HNO+H</c:v>
                </c:pt>
                <c:pt idx="4">
                  <c:v>NNH+H2&lt;=&gt;N2H2+H</c:v>
                </c:pt>
                <c:pt idx="5">
                  <c:v>N2H3+M&lt;=&gt;N2H2+H+M</c:v>
                </c:pt>
                <c:pt idx="6">
                  <c:v>N2+OH&lt;=&gt;N2O+H</c:v>
                </c:pt>
                <c:pt idx="7">
                  <c:v>NH+H2&lt;=&gt;NH2+H</c:v>
                </c:pt>
                <c:pt idx="8">
                  <c:v>N+H2&lt;=&gt;NH+H</c:v>
                </c:pt>
                <c:pt idx="9">
                  <c:v>NH+NO&lt;=&gt;N2O+H</c:v>
                </c:pt>
                <c:pt idx="10">
                  <c:v>NH2+NH&lt;=&gt;N2H2+H</c:v>
                </c:pt>
                <c:pt idx="11">
                  <c:v>NH2+O&lt;=&gt;HNO+H</c:v>
                </c:pt>
                <c:pt idx="12">
                  <c:v>NH2+H2&lt;=&gt;NH3+H</c:v>
                </c:pt>
                <c:pt idx="13">
                  <c:v>NNH&lt;=&gt;N2+H</c:v>
                </c:pt>
                <c:pt idx="14">
                  <c:v>O+H2&lt;=&gt;H+OH</c:v>
                </c:pt>
                <c:pt idx="15">
                  <c:v>OH+H2&lt;=&gt;H+H2O</c:v>
                </c:pt>
              </c:strCache>
            </c:strRef>
          </c:cat>
          <c:val>
            <c:numRef>
              <c:f>Sheet2!$C$2:$C$17</c:f>
              <c:numCache>
                <c:formatCode>General</c:formatCode>
                <c:ptCount val="16"/>
                <c:pt idx="0">
                  <c:v>-2.3429817783380272E-5</c:v>
                </c:pt>
                <c:pt idx="1">
                  <c:v>2.4935761571726701E-4</c:v>
                </c:pt>
                <c:pt idx="3">
                  <c:v>3.30768325946362E-5</c:v>
                </c:pt>
                <c:pt idx="4">
                  <c:v>2.5966644891776101E-5</c:v>
                </c:pt>
                <c:pt idx="7">
                  <c:v>-5.7800979728865942E-5</c:v>
                </c:pt>
                <c:pt idx="8">
                  <c:v>2.82801280460226E-5</c:v>
                </c:pt>
                <c:pt idx="10">
                  <c:v>2.2767326405463311E-5</c:v>
                </c:pt>
                <c:pt idx="13">
                  <c:v>4.5189356841609982E-5</c:v>
                </c:pt>
                <c:pt idx="14">
                  <c:v>1.1492789293483839E-4</c:v>
                </c:pt>
                <c:pt idx="15">
                  <c:v>2.5195766984575002E-4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A4-49E5-8CD2-6514782091F0}"/>
            </c:ext>
          </c:extLst>
        </c:ser>
        <c:ser>
          <c:idx val="1"/>
          <c:order val="1"/>
          <c:tx>
            <c:strRef>
              <c:f>Sheet2!$D$1</c:f>
              <c:strCache>
                <c:ptCount val="1"/>
                <c:pt idx="0">
                  <c:v>Okafor Reduced Mech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Sheet2!$B$2:$B$17</c:f>
              <c:strCache>
                <c:ptCount val="16"/>
                <c:pt idx="0">
                  <c:v>2NH2&lt;=&gt;N2H3+H</c:v>
                </c:pt>
                <c:pt idx="1">
                  <c:v>O+OH&lt;=&gt;H+O2</c:v>
                </c:pt>
                <c:pt idx="2">
                  <c:v>H2+NO&lt;=&gt;HNO+H</c:v>
                </c:pt>
                <c:pt idx="3">
                  <c:v>NO+H2&lt;=&gt;HNO+H</c:v>
                </c:pt>
                <c:pt idx="4">
                  <c:v>NNH+H2&lt;=&gt;N2H2+H</c:v>
                </c:pt>
                <c:pt idx="5">
                  <c:v>N2H3+M&lt;=&gt;N2H2+H+M</c:v>
                </c:pt>
                <c:pt idx="6">
                  <c:v>N2+OH&lt;=&gt;N2O+H</c:v>
                </c:pt>
                <c:pt idx="7">
                  <c:v>NH+H2&lt;=&gt;NH2+H</c:v>
                </c:pt>
                <c:pt idx="8">
                  <c:v>N+H2&lt;=&gt;NH+H</c:v>
                </c:pt>
                <c:pt idx="9">
                  <c:v>NH+NO&lt;=&gt;N2O+H</c:v>
                </c:pt>
                <c:pt idx="10">
                  <c:v>NH2+NH&lt;=&gt;N2H2+H</c:v>
                </c:pt>
                <c:pt idx="11">
                  <c:v>NH2+O&lt;=&gt;HNO+H</c:v>
                </c:pt>
                <c:pt idx="12">
                  <c:v>NH2+H2&lt;=&gt;NH3+H</c:v>
                </c:pt>
                <c:pt idx="13">
                  <c:v>NNH&lt;=&gt;N2+H</c:v>
                </c:pt>
                <c:pt idx="14">
                  <c:v>O+H2&lt;=&gt;H+OH</c:v>
                </c:pt>
                <c:pt idx="15">
                  <c:v>OH+H2&lt;=&gt;H+H2O</c:v>
                </c:pt>
              </c:strCache>
            </c:strRef>
          </c:cat>
          <c:val>
            <c:numRef>
              <c:f>Sheet2!$D$2:$D$17</c:f>
              <c:numCache>
                <c:formatCode>General</c:formatCode>
                <c:ptCount val="16"/>
                <c:pt idx="1">
                  <c:v>1.5179483793546501E-4</c:v>
                </c:pt>
                <c:pt idx="2">
                  <c:v>3.4571493051250399E-5</c:v>
                </c:pt>
                <c:pt idx="5">
                  <c:v>-7.9837549573946059E-5</c:v>
                </c:pt>
                <c:pt idx="6">
                  <c:v>1.6680709599928899E-5</c:v>
                </c:pt>
                <c:pt idx="7">
                  <c:v>4.7111837496750102E-5</c:v>
                </c:pt>
                <c:pt idx="9">
                  <c:v>1.8354583960261881E-5</c:v>
                </c:pt>
                <c:pt idx="11">
                  <c:v>3.2159543098977393E-5</c:v>
                </c:pt>
                <c:pt idx="12">
                  <c:v>1.7796241703307698E-5</c:v>
                </c:pt>
                <c:pt idx="14">
                  <c:v>5.4956241772031839E-5</c:v>
                </c:pt>
                <c:pt idx="15">
                  <c:v>2.0318178959373719E-4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A4-49E5-8CD2-651478209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50763872"/>
        <c:axId val="550752352"/>
      </c:barChart>
      <c:catAx>
        <c:axId val="550763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0752352"/>
        <c:crosses val="autoZero"/>
        <c:auto val="1"/>
        <c:lblAlgn val="ctr"/>
        <c:lblOffset val="100"/>
        <c:noMultiLvlLbl val="0"/>
      </c:catAx>
      <c:valAx>
        <c:axId val="550752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E+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0763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1" charset="-128"/>
              </a:defRPr>
            </a:lvl1pPr>
          </a:lstStyle>
          <a:p>
            <a:pPr>
              <a:defRPr/>
            </a:pPr>
            <a:fld id="{D5333078-AEFE-41B4-B904-59855D190F9C}" type="datetime1">
              <a:rPr lang="ja-JP" altLang="en-US"/>
              <a:pPr>
                <a:defRPr/>
              </a:pPr>
              <a:t>2026/10/23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C127D46-609E-4A47-9628-6D23C3EBD99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0:48:03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0,'22946'0,"-23482"0,500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0:48:11.4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1,'22928'0,"-22910"0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1:02:56.2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0,'22946'0,"-23482"0,500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1:02:56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1,'22928'0,"-22910"0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1:03:06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0,'22946'0,"-23482"0,500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1:03:06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1,'22928'0,"-22910"0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0:49:35.0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 60,'15519'0,"-15498"0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0:49:46.6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97 115,'15393'0,"-15372"0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0:26:17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1,'10255'0,"-10245"0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2T10:26:27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1,'6879'0,"-7199"0,3339 0,-2997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ＭＳ Ｐゴシック" pitchFamily="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Arial" charset="0"/>
                <a:ea typeface="ＭＳ Ｐゴシック" pitchFamily="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514350"/>
            <a:ext cx="4572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ＭＳ Ｐゴシック" pitchFamily="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/>
            </a:lvl1pPr>
          </a:lstStyle>
          <a:p>
            <a:pPr>
              <a:defRPr/>
            </a:pPr>
            <a:fld id="{ACB89EC6-F31B-4A18-90F4-42C2071FB0B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</a:pPr>
            <a:fld id="{311CB0E0-5EC0-44C5-B763-B1433A66F5B8}" type="slidenum">
              <a:rPr lang="en-US" altLang="ja-JP"/>
              <a:pPr>
                <a:spcBef>
                  <a:spcPct val="0"/>
                </a:spcBef>
              </a:pPr>
              <a:t>0</a:t>
            </a:fld>
            <a:endParaRPr lang="en-US" altLang="ja-JP" dirty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importance of ammonia combustion simulation</a:t>
            </a:r>
          </a:p>
          <a:p>
            <a:r>
              <a:rPr lang="en-US" dirty="0"/>
              <a:t>	for emission control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Lesser whitespace</a:t>
            </a:r>
          </a:p>
          <a:p>
            <a:r>
              <a:rPr lang="en-US" dirty="0"/>
              <a:t>Figures relevant to talking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5201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images; unclear as to what the image represents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24717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Okafor mech fails nh3/h2 </a:t>
            </a:r>
            <a:r>
              <a:rPr lang="en-US" dirty="0" err="1"/>
              <a:t>lbv</a:t>
            </a:r>
            <a:r>
              <a:rPr lang="en-US" dirty="0"/>
              <a:t> modeling because mech not developed for this blend</a:t>
            </a:r>
          </a:p>
          <a:p>
            <a:r>
              <a:rPr lang="en-US" dirty="0"/>
              <a:t>Explain why </a:t>
            </a:r>
            <a:r>
              <a:rPr lang="en-US" dirty="0" err="1"/>
              <a:t>gotama</a:t>
            </a:r>
            <a:r>
              <a:rPr lang="en-US" dirty="0"/>
              <a:t> mech selected</a:t>
            </a:r>
          </a:p>
          <a:p>
            <a:r>
              <a:rPr lang="en-US" dirty="0"/>
              <a:t>	“a reaction mechanism developed for nh3/h2 flame selected to STUDY nh3/h2 flame chemistry”</a:t>
            </a:r>
          </a:p>
          <a:p>
            <a:r>
              <a:rPr lang="en-US" dirty="0"/>
              <a:t>Don’t say compare. Emphasis on how other mechanisms were used to study the chemistry.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9406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Operating conditions selected because substantial experimental data exists for this condition in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5310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err="1"/>
              <a:t>okafor</a:t>
            </a:r>
            <a:r>
              <a:rPr lang="en-US" dirty="0"/>
              <a:t> detailed mechanism in the figure</a:t>
            </a:r>
          </a:p>
          <a:p>
            <a:r>
              <a:rPr lang="en-US" dirty="0"/>
              <a:t>Mention how there is an underlying misrepresentation in </a:t>
            </a:r>
            <a:r>
              <a:rPr lang="en-US" dirty="0" err="1"/>
              <a:t>okafor</a:t>
            </a:r>
            <a:r>
              <a:rPr lang="en-US" dirty="0"/>
              <a:t> mech leading to nh3/h2 </a:t>
            </a:r>
            <a:r>
              <a:rPr lang="en-US" dirty="0" err="1"/>
              <a:t>lbv</a:t>
            </a:r>
            <a:r>
              <a:rPr lang="en-US" dirty="0"/>
              <a:t> underprediction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91100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use of sensitivity analysis to determine reactions important to </a:t>
            </a:r>
            <a:r>
              <a:rPr lang="en-US" dirty="0" err="1"/>
              <a:t>lbv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49709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(a) and (b) to names of mechanism</a:t>
            </a:r>
          </a:p>
          <a:p>
            <a:r>
              <a:rPr lang="en-US" dirty="0"/>
              <a:t>Remove caption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34912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72227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Unable to validate for elevated pressures due to a lack of experimental 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85764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graph starts at 0,0</a:t>
            </a:r>
          </a:p>
          <a:p>
            <a:r>
              <a:rPr lang="en-US" dirty="0"/>
              <a:t>Explain why N2Hx pathways do not affect nh3/ch4 flames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89EC6-F31B-4A18-90F4-42C2071FB0B9}" type="slidenum">
              <a:rPr lang="en-US" altLang="ja-JP" smtClean="0"/>
              <a:pPr>
                <a:defRPr/>
              </a:pPr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775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 bwMode="auto">
          <a:xfrm>
            <a:off x="0" y="836612"/>
            <a:ext cx="12192000" cy="3024188"/>
          </a:xfrm>
          <a:prstGeom prst="rect">
            <a:avLst/>
          </a:prstGeom>
          <a:solidFill>
            <a:srgbClr val="6D0029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1" lang="ja-JP" altLang="en-US"/>
          </a:p>
        </p:txBody>
      </p:sp>
      <p:pic>
        <p:nvPicPr>
          <p:cNvPr id="5" name="Picture 22" descr="F:\work\ppt template\02.pn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944" y="5715000"/>
            <a:ext cx="1036638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824030"/>
            <a:ext cx="10363200" cy="533400"/>
          </a:xfrm>
        </p:spPr>
        <p:txBody>
          <a:bodyPr lIns="0" tIns="0" rIns="0" bIns="0"/>
          <a:lstStyle>
            <a:lvl1pPr algn="ctr">
              <a:defRPr sz="4000"/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2581276"/>
            <a:ext cx="10363200" cy="990600"/>
          </a:xfrm>
        </p:spPr>
        <p:txBody>
          <a:bodyPr lIns="0" tIns="0" rIns="0" bIns="0"/>
          <a:lstStyle>
            <a:lvl1pPr marL="0" indent="0" algn="ctr"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9300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D94619-833C-3082-E36D-CB9CDB51EF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260648"/>
            <a:ext cx="10014520" cy="381000"/>
          </a:xfrm>
        </p:spPr>
        <p:txBody>
          <a:bodyPr/>
          <a:lstStyle>
            <a:lvl1pPr>
              <a:defRPr sz="2300"/>
            </a:lvl1pPr>
          </a:lstStyle>
          <a:p>
            <a:r>
              <a:rPr lang="en-US" dirty="0"/>
              <a:t>Enter slide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425" y="1268760"/>
            <a:ext cx="11233150" cy="4777682"/>
          </a:xfrm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30BFF-6758-4814-A89A-12C821A7648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74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>
            <a:extLst>
              <a:ext uri="{FF2B5EF4-FFF2-40B4-BE49-F238E27FC236}">
                <a16:creationId xmlns:a16="http://schemas.microsoft.com/office/drawing/2014/main" id="{067F8173-5283-2A94-3A1E-47BFD28546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260648"/>
            <a:ext cx="10014520" cy="381000"/>
          </a:xfrm>
        </p:spPr>
        <p:txBody>
          <a:bodyPr/>
          <a:lstStyle>
            <a:lvl1pPr>
              <a:defRPr sz="2300"/>
            </a:lvl1pPr>
          </a:lstStyle>
          <a:p>
            <a:r>
              <a:rPr lang="en-US" dirty="0"/>
              <a:t>Enter slide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9424" y="1175793"/>
            <a:ext cx="5400675" cy="45370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999" y="1175792"/>
            <a:ext cx="5616575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60AE0-185D-4321-8E65-BC536618BE0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46CE15-5F15-1313-98EE-AEDEA6DC05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5856312"/>
            <a:ext cx="5616575" cy="380999"/>
          </a:xfrm>
        </p:spPr>
        <p:txBody>
          <a:bodyPr lIns="91440" tIns="45720" rIns="91440" bIns="45720" anchor="ctr"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5ED6500-7977-21FE-8D37-8358EE07C8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1190" y="5853024"/>
            <a:ext cx="5398909" cy="380999"/>
          </a:xfrm>
        </p:spPr>
        <p:txBody>
          <a:bodyPr lIns="91440" tIns="45720" rIns="91440" bIns="45720" anchor="ctr"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338803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03382-8F18-4778-9452-65D2E15D548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EF656A-4A55-062A-6BF2-9F1B12AE7D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762000" y="260648"/>
            <a:ext cx="10014520" cy="381000"/>
          </a:xfrm>
          <a:prstGeom prst="rect">
            <a:avLst/>
          </a:prstGeom>
          <a:ln/>
        </p:spPr>
        <p:txBody>
          <a:bodyPr/>
          <a:lstStyle>
            <a:lvl1pPr algn="l">
              <a:defRPr sz="2300" baseline="0"/>
            </a:lvl1pPr>
          </a:lstStyle>
          <a:p>
            <a:pPr algn="l">
              <a:defRPr/>
            </a:pPr>
            <a:r>
              <a:rPr lang="en-US" altLang="ja-JP" dirty="0"/>
              <a:t>Enter heading</a:t>
            </a:r>
          </a:p>
        </p:txBody>
      </p:sp>
    </p:spTree>
    <p:extLst>
      <p:ext uri="{BB962C8B-B14F-4D97-AF65-F5344CB8AC3E}">
        <p14:creationId xmlns:p14="http://schemas.microsoft.com/office/powerpoint/2010/main" val="247236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2B4EDC44-0D52-73DB-B591-E20D405B76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260648"/>
            <a:ext cx="10014520" cy="381000"/>
          </a:xfrm>
        </p:spPr>
        <p:txBody>
          <a:bodyPr/>
          <a:lstStyle>
            <a:lvl1pPr>
              <a:defRPr sz="2300"/>
            </a:lvl1pPr>
          </a:lstStyle>
          <a:p>
            <a:r>
              <a:rPr lang="en-US" dirty="0"/>
              <a:t>Enter slide title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7F7D9-36AC-4513-BF5B-ED822104408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8360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 bwMode="auto">
          <a:xfrm>
            <a:off x="0" y="152400"/>
            <a:ext cx="12192000" cy="609600"/>
          </a:xfrm>
          <a:prstGeom prst="rect">
            <a:avLst/>
          </a:prstGeom>
          <a:solidFill>
            <a:srgbClr val="6D0029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1" lang="ja-JP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9425" y="1077913"/>
            <a:ext cx="112331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9425" y="1700212"/>
            <a:ext cx="1123315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39500" y="319088"/>
            <a:ext cx="5588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7B4CC19-3B93-43DB-8C34-99B821707AD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3149600" y="6511925"/>
            <a:ext cx="78232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en-US" altLang="ja-JP" sz="1000" dirty="0">
              <a:solidFill>
                <a:srgbClr val="FF0000"/>
              </a:solidFill>
            </a:endParaRPr>
          </a:p>
        </p:txBody>
      </p:sp>
      <p:pic>
        <p:nvPicPr>
          <p:cNvPr id="1032" name="図 9" descr="OOU.png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254000"/>
            <a:ext cx="4572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D0B5011B-2F9A-5084-322D-595D07FD61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762000" y="260648"/>
            <a:ext cx="10014520" cy="381000"/>
          </a:xfrm>
          <a:prstGeom prst="rect">
            <a:avLst/>
          </a:prstGeom>
          <a:ln/>
        </p:spPr>
        <p:txBody>
          <a:bodyPr/>
          <a:lstStyle>
            <a:lvl1pPr algn="l">
              <a:defRPr sz="23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ja-JP" dirty="0"/>
              <a:t>Enter heading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01" r:id="rId2"/>
    <p:sldLayoutId id="2147483803" r:id="rId3"/>
    <p:sldLayoutId id="2147483805" r:id="rId4"/>
    <p:sldLayoutId id="2147483806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+mj-lt"/>
          <a:ea typeface="+mj-ea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  <a:cs typeface="ＭＳ Ｐゴシック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3976" userDrawn="1">
          <p15:clr>
            <a:srgbClr val="F26B43"/>
          </p15:clr>
        </p15:guide>
        <p15:guide id="4" pos="4112" userDrawn="1">
          <p15:clr>
            <a:srgbClr val="F26B43"/>
          </p15:clr>
        </p15:guide>
        <p15:guide id="5" pos="4384" userDrawn="1">
          <p15:clr>
            <a:srgbClr val="F26B43"/>
          </p15:clr>
        </p15:guide>
        <p15:guide id="6" pos="4656" userDrawn="1">
          <p15:clr>
            <a:srgbClr val="F26B43"/>
          </p15:clr>
        </p15:guide>
        <p15:guide id="7" pos="4929" userDrawn="1">
          <p15:clr>
            <a:srgbClr val="F26B43"/>
          </p15:clr>
        </p15:guide>
        <p15:guide id="8" pos="5201" userDrawn="1">
          <p15:clr>
            <a:srgbClr val="F26B43"/>
          </p15:clr>
        </p15:guide>
        <p15:guide id="9" pos="5473" userDrawn="1">
          <p15:clr>
            <a:srgbClr val="F26B43"/>
          </p15:clr>
        </p15:guide>
        <p15:guide id="10" pos="5745" userDrawn="1">
          <p15:clr>
            <a:srgbClr val="F26B43"/>
          </p15:clr>
        </p15:guide>
        <p15:guide id="11" pos="6017" userDrawn="1">
          <p15:clr>
            <a:srgbClr val="F26B43"/>
          </p15:clr>
        </p15:guide>
        <p15:guide id="12" pos="6289" userDrawn="1">
          <p15:clr>
            <a:srgbClr val="F26B43"/>
          </p15:clr>
        </p15:guide>
        <p15:guide id="13" pos="6562" userDrawn="1">
          <p15:clr>
            <a:srgbClr val="F26B43"/>
          </p15:clr>
        </p15:guide>
        <p15:guide id="14" pos="6834" userDrawn="1">
          <p15:clr>
            <a:srgbClr val="F26B43"/>
          </p15:clr>
        </p15:guide>
        <p15:guide id="15" pos="7106" userDrawn="1">
          <p15:clr>
            <a:srgbClr val="F26B43"/>
          </p15:clr>
        </p15:guide>
        <p15:guide id="16" pos="7378" userDrawn="1">
          <p15:clr>
            <a:srgbClr val="F26B43"/>
          </p15:clr>
        </p15:guide>
        <p15:guide id="17" pos="7514" userDrawn="1">
          <p15:clr>
            <a:srgbClr val="F26B43"/>
          </p15:clr>
        </p15:guide>
        <p15:guide id="18" pos="7650" userDrawn="1">
          <p15:clr>
            <a:srgbClr val="F26B43"/>
          </p15:clr>
        </p15:guide>
        <p15:guide id="19" pos="3704" userDrawn="1">
          <p15:clr>
            <a:srgbClr val="F26B43"/>
          </p15:clr>
        </p15:guide>
        <p15:guide id="20" pos="3568" userDrawn="1">
          <p15:clr>
            <a:srgbClr val="F26B43"/>
          </p15:clr>
        </p15:guide>
        <p15:guide id="21" pos="3296" userDrawn="1">
          <p15:clr>
            <a:srgbClr val="F26B43"/>
          </p15:clr>
        </p15:guide>
        <p15:guide id="22" pos="3024" userDrawn="1">
          <p15:clr>
            <a:srgbClr val="F26B43"/>
          </p15:clr>
        </p15:guide>
        <p15:guide id="23" pos="2751" userDrawn="1">
          <p15:clr>
            <a:srgbClr val="F26B43"/>
          </p15:clr>
        </p15:guide>
        <p15:guide id="24" pos="2479" userDrawn="1">
          <p15:clr>
            <a:srgbClr val="F26B43"/>
          </p15:clr>
        </p15:guide>
        <p15:guide id="25" pos="2207" userDrawn="1">
          <p15:clr>
            <a:srgbClr val="F26B43"/>
          </p15:clr>
        </p15:guide>
        <p15:guide id="26" pos="1935" userDrawn="1">
          <p15:clr>
            <a:srgbClr val="F26B43"/>
          </p15:clr>
        </p15:guide>
        <p15:guide id="27" pos="1663" userDrawn="1">
          <p15:clr>
            <a:srgbClr val="F26B43"/>
          </p15:clr>
        </p15:guide>
        <p15:guide id="28" pos="1391" userDrawn="1">
          <p15:clr>
            <a:srgbClr val="F26B43"/>
          </p15:clr>
        </p15:guide>
        <p15:guide id="29" pos="1118" userDrawn="1">
          <p15:clr>
            <a:srgbClr val="F26B43"/>
          </p15:clr>
        </p15:guide>
        <p15:guide id="30" pos="846" userDrawn="1">
          <p15:clr>
            <a:srgbClr val="F26B43"/>
          </p15:clr>
        </p15:guide>
        <p15:guide id="31" pos="574" userDrawn="1">
          <p15:clr>
            <a:srgbClr val="F26B43"/>
          </p15:clr>
        </p15:guide>
        <p15:guide id="32" pos="302" userDrawn="1">
          <p15:clr>
            <a:srgbClr val="F26B43"/>
          </p15:clr>
        </p15:guide>
        <p15:guide id="33" pos="166" userDrawn="1">
          <p15:clr>
            <a:srgbClr val="F26B43"/>
          </p15:clr>
        </p15:guide>
        <p15:guide id="34" pos="30" userDrawn="1">
          <p15:clr>
            <a:srgbClr val="F26B43"/>
          </p15:clr>
        </p15:guide>
        <p15:guide id="35" orient="horz" pos="1888" userDrawn="1">
          <p15:clr>
            <a:srgbClr val="F26B43"/>
          </p15:clr>
        </p15:guide>
        <p15:guide id="36" orient="horz" pos="1616" userDrawn="1">
          <p15:clr>
            <a:srgbClr val="F26B43"/>
          </p15:clr>
        </p15:guide>
        <p15:guide id="37" orient="horz" pos="1344" userDrawn="1">
          <p15:clr>
            <a:srgbClr val="F26B43"/>
          </p15:clr>
        </p15:guide>
        <p15:guide id="38" orient="horz" pos="1071" userDrawn="1">
          <p15:clr>
            <a:srgbClr val="F26B43"/>
          </p15:clr>
        </p15:guide>
        <p15:guide id="39" orient="horz" pos="799" userDrawn="1">
          <p15:clr>
            <a:srgbClr val="F26B43"/>
          </p15:clr>
        </p15:guide>
        <p15:guide id="40" orient="horz" pos="527" userDrawn="1">
          <p15:clr>
            <a:srgbClr val="F26B43"/>
          </p15:clr>
        </p15:guide>
        <p15:guide id="41" orient="horz" pos="391" userDrawn="1">
          <p15:clr>
            <a:srgbClr val="F26B43"/>
          </p15:clr>
        </p15:guide>
        <p15:guide id="42" orient="horz" pos="255" userDrawn="1">
          <p15:clr>
            <a:srgbClr val="F26B43"/>
          </p15:clr>
        </p15:guide>
        <p15:guide id="44" orient="horz" pos="119" userDrawn="1">
          <p15:clr>
            <a:srgbClr val="F26B43"/>
          </p15:clr>
        </p15:guide>
        <p15:guide id="45" orient="horz" pos="187" userDrawn="1">
          <p15:clr>
            <a:srgbClr val="F26B43"/>
          </p15:clr>
        </p15:guide>
        <p15:guide id="46" orient="horz" pos="2432" userDrawn="1">
          <p15:clr>
            <a:srgbClr val="F26B43"/>
          </p15:clr>
        </p15:guide>
        <p15:guide id="47" orient="horz" pos="2704" userDrawn="1">
          <p15:clr>
            <a:srgbClr val="F26B43"/>
          </p15:clr>
        </p15:guide>
        <p15:guide id="48" orient="horz" pos="2976" userDrawn="1">
          <p15:clr>
            <a:srgbClr val="F26B43"/>
          </p15:clr>
        </p15:guide>
        <p15:guide id="49" orient="horz" pos="3249" userDrawn="1">
          <p15:clr>
            <a:srgbClr val="F26B43"/>
          </p15:clr>
        </p15:guide>
        <p15:guide id="50" orient="horz" pos="3521" userDrawn="1">
          <p15:clr>
            <a:srgbClr val="F26B43"/>
          </p15:clr>
        </p15:guide>
        <p15:guide id="51" orient="horz" pos="3793" userDrawn="1">
          <p15:clr>
            <a:srgbClr val="F26B43"/>
          </p15:clr>
        </p15:guide>
        <p15:guide id="52" orient="horz" pos="4065" userDrawn="1">
          <p15:clr>
            <a:srgbClr val="F26B43"/>
          </p15:clr>
        </p15:guide>
        <p15:guide id="53" orient="horz" pos="3929" userDrawn="1">
          <p15:clr>
            <a:srgbClr val="F26B43"/>
          </p15:clr>
        </p15:guide>
        <p15:guide id="54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2.xml"/><Relationship Id="rId10" Type="http://schemas.openxmlformats.org/officeDocument/2006/relationships/customXml" Target="../ink/ink6.xml"/><Relationship Id="rId4" Type="http://schemas.openxmlformats.org/officeDocument/2006/relationships/image" Target="../media/image19.png"/><Relationship Id="rId9" Type="http://schemas.openxmlformats.org/officeDocument/2006/relationships/customXml" Target="../ink/ink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8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0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695400" y="1866900"/>
            <a:ext cx="10801200" cy="533400"/>
          </a:xfrm>
        </p:spPr>
        <p:txBody>
          <a:bodyPr/>
          <a:lstStyle/>
          <a:p>
            <a:pPr eaLnBrk="1" hangingPunct="1"/>
            <a:r>
              <a:rPr lang="en-US" altLang="ja-JP" dirty="0"/>
              <a:t>Importance of N2Hx Reaction Pathways in Modelling of NH3/H2/Air Flame Chemistry</a:t>
            </a:r>
            <a:endParaRPr lang="ja-JP" altLang="en-US" dirty="0"/>
          </a:p>
        </p:txBody>
      </p:sp>
      <p:sp>
        <p:nvSpPr>
          <p:cNvPr id="5124" name="Rectangle 15"/>
          <p:cNvSpPr>
            <a:spLocks noChangeArrowheads="1"/>
          </p:cNvSpPr>
          <p:nvPr/>
        </p:nvSpPr>
        <p:spPr bwMode="auto">
          <a:xfrm>
            <a:off x="2095500" y="4077071"/>
            <a:ext cx="8039100" cy="65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ja-JP" sz="1600" dirty="0"/>
              <a:t>Department of Mechanical Engineering, Reactive Gas Dynamics</a:t>
            </a:r>
            <a:endParaRPr lang="ja-JP" altLang="en-US" sz="1600" dirty="0"/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ja-JP" sz="1600" dirty="0"/>
              <a:t>UROTHIYIL Aahil Ashraf</a:t>
            </a:r>
            <a:endParaRPr lang="ja-JP" altLang="en-US" sz="1600" dirty="0"/>
          </a:p>
        </p:txBody>
      </p:sp>
      <p:sp>
        <p:nvSpPr>
          <p:cNvPr id="5125" name="Rectangle 16"/>
          <p:cNvSpPr>
            <a:spLocks noChangeArrowheads="1"/>
          </p:cNvSpPr>
          <p:nvPr/>
        </p:nvSpPr>
        <p:spPr bwMode="auto">
          <a:xfrm>
            <a:off x="2057400" y="4981575"/>
            <a:ext cx="807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1400" dirty="0"/>
              <a:t>2026</a:t>
            </a:r>
            <a:r>
              <a:rPr lang="ja-JP" altLang="en-US" sz="1400" dirty="0"/>
              <a:t>年</a:t>
            </a:r>
            <a:r>
              <a:rPr lang="en-US" altLang="ja-JP" sz="1400" dirty="0"/>
              <a:t>11</a:t>
            </a:r>
            <a:r>
              <a:rPr lang="ja-JP" altLang="en-US" sz="1400" dirty="0"/>
              <a:t>月</a:t>
            </a:r>
            <a:r>
              <a:rPr lang="en-US" altLang="ja-JP" sz="1400" dirty="0"/>
              <a:t>8</a:t>
            </a:r>
            <a:r>
              <a:rPr lang="ja-JP" altLang="en-US" sz="1400" dirty="0"/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64B4F2-C63C-5DE9-7FC9-FE6974901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268760"/>
            <a:ext cx="5616575" cy="5040560"/>
          </a:xfrm>
        </p:spPr>
        <p:txBody>
          <a:bodyPr anchor="ctr"/>
          <a:lstStyle/>
          <a:p>
            <a:r>
              <a:rPr lang="en-GB" sz="2000" dirty="0"/>
              <a:t>Ammonia combustion is a growing area of research as a carbon-free alternative to traditional fuels.</a:t>
            </a:r>
          </a:p>
          <a:p>
            <a:endParaRPr lang="en-GB" sz="2000" dirty="0"/>
          </a:p>
          <a:p>
            <a:r>
              <a:rPr lang="en-GB" sz="2000" dirty="0"/>
              <a:t>Numerically simulating ammonia blends is necessary for studying combustion properties and developing combustion systems.</a:t>
            </a:r>
          </a:p>
          <a:p>
            <a:endParaRPr lang="en-GB" sz="2000" dirty="0"/>
          </a:p>
          <a:p>
            <a:r>
              <a:rPr lang="en-GB" sz="2000" dirty="0"/>
              <a:t>Large-scale modelling with detailed chemical kinetics mechanisms increases computational cost.</a:t>
            </a:r>
          </a:p>
          <a:p>
            <a:endParaRPr lang="en-GB" sz="2000" dirty="0"/>
          </a:p>
          <a:p>
            <a:r>
              <a:rPr lang="en-GB" sz="2000" dirty="0"/>
              <a:t>Reduced chemical kinetic mechanisms optimized for multiple ammonia blends and operating conditions is needed.</a:t>
            </a:r>
          </a:p>
          <a:p>
            <a:endParaRPr lang="en-GB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A5088-C0AD-75B3-8C4C-E0A5062CB12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C77F7-6B19-A10D-2766-1E0C45856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</a:t>
            </a:fld>
            <a:endParaRPr lang="en-US" altLang="ja-JP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4C572-D320-9E1B-6FFE-DBDAEF9864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92824" y="3513585"/>
            <a:ext cx="3015064" cy="2214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6A4A50-BD65-57A1-23B3-5AA1C2AB35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08" r="12563"/>
          <a:stretch>
            <a:fillRect/>
          </a:stretch>
        </p:blipFill>
        <p:spPr>
          <a:xfrm>
            <a:off x="7248128" y="908720"/>
            <a:ext cx="4104456" cy="191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0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BCF3C5-C505-2F53-DE0B-D375D6591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268760"/>
            <a:ext cx="5760591" cy="4777682"/>
          </a:xfrm>
        </p:spPr>
        <p:txBody>
          <a:bodyPr/>
          <a:lstStyle/>
          <a:p>
            <a:r>
              <a:rPr lang="en-US" dirty="0"/>
              <a:t>Existing reduced chemical kinetics mechanisms target specific fuel blends for select operating conditions.</a:t>
            </a:r>
          </a:p>
          <a:p>
            <a:endParaRPr lang="en-US" dirty="0"/>
          </a:p>
          <a:p>
            <a:r>
              <a:rPr lang="en-US" dirty="0"/>
              <a:t>Elucidating reaction pathways particular to specific fuel blends helped develop a kinetics mechanism viable for a wider range of fuels.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DF9EAA-9192-FDCC-4D2A-063BD1E6B9F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7E90D-ACB7-2538-743D-6A32390C70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AB77F8-CD44-7B97-8127-2391D52BE4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" r="139"/>
          <a:stretch/>
        </p:blipFill>
        <p:spPr>
          <a:xfrm>
            <a:off x="6456040" y="1412776"/>
            <a:ext cx="5472608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47B9C2-34FB-85EB-31A8-4903822F1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700808"/>
            <a:ext cx="11233150" cy="4345634"/>
          </a:xfrm>
        </p:spPr>
        <p:txBody>
          <a:bodyPr/>
          <a:lstStyle/>
          <a:p>
            <a:r>
              <a:rPr lang="en-US" dirty="0"/>
              <a:t>Develop a reduced kinetic mechanism optimized for NH3, NH3/CH4 and NH3/H2</a:t>
            </a:r>
          </a:p>
          <a:p>
            <a:pPr lvl="1"/>
            <a:r>
              <a:rPr lang="en-US" dirty="0"/>
              <a:t>Prioritizing unstretched laminar burning velocity predictions</a:t>
            </a:r>
          </a:p>
          <a:p>
            <a:pPr lvl="1"/>
            <a:r>
              <a:rPr lang="en-US" dirty="0"/>
              <a:t>Viable for cases with varying pressure and equivalence ratio</a:t>
            </a:r>
          </a:p>
          <a:p>
            <a:pPr lvl="1"/>
            <a:endParaRPr lang="en-US" dirty="0"/>
          </a:p>
          <a:p>
            <a:r>
              <a:rPr lang="en-US" dirty="0"/>
              <a:t>Validate the Present Mechanism with experimental flame speed measurements from literature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A03BB-F8A1-2C62-6C60-379827C0D6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4D1B0-445F-B9A3-2C06-E39516CC0E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99468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2D3022-0FF1-75D1-578B-FB3189588C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Present mechanism is based on the reduced mechanism developed by Okafor et al. (2019).</a:t>
                </a:r>
              </a:p>
              <a:p>
                <a:pPr lvl="1"/>
                <a:r>
                  <a:rPr lang="en-US" dirty="0"/>
                  <a:t>This mechanism is developed to model laminar burning velocities of NH3/air and NH3/CH4/air flames accurately.</a:t>
                </a:r>
              </a:p>
              <a:p>
                <a:pPr lvl="1"/>
                <a:r>
                  <a:rPr lang="en-US" dirty="0"/>
                  <a:t>The mechanism is not optimized for NH3/H2/air flames.</a:t>
                </a:r>
              </a:p>
              <a:p>
                <a:pPr lvl="2"/>
                <a:r>
                  <a:rPr lang="en-US" dirty="0"/>
                  <a:t>Hence underpredicts flame speed when H2 concentration exceeds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Underlying chemistry in NH3/H2/air flames were studied by studying reaction mechanisms developed for this blend. </a:t>
                </a:r>
              </a:p>
              <a:p>
                <a:pPr lvl="1"/>
                <a:r>
                  <a:rPr lang="en-US" dirty="0"/>
                  <a:t>Reaction mechanism by Gotama et al. (2022) was optimized for laminar burning velocity of NH3/H2/air flames.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2D3022-0FF1-75D1-578B-FB3189588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8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B3B8E-6FEC-19F3-F26E-F023004FB6C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Development of the Present Mech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B048D-6E76-ED81-8B3C-72D4BFF9F6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4497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5053B3-E379-D866-988F-F893A12247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425" y="2276872"/>
                <a:ext cx="11233150" cy="3769570"/>
              </a:xfrm>
            </p:spPr>
            <p:txBody>
              <a:bodyPr/>
              <a:lstStyle/>
              <a:p>
                <a:r>
                  <a:rPr lang="en-GB" dirty="0"/>
                  <a:t>Unstretched laminar burning velocity,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dirty="0"/>
                  <a:t>, of premixed flames calculated with 1D unstretched adiabatic simulations</a:t>
                </a:r>
              </a:p>
              <a:p>
                <a:pPr lvl="1"/>
                <a:r>
                  <a:rPr lang="en-GB" dirty="0"/>
                  <a:t>Premixed Laminar Flame Speed Calculation model in ANSYS </a:t>
                </a:r>
                <a:r>
                  <a:rPr lang="en-GB" dirty="0" err="1"/>
                  <a:t>Chemkin</a:t>
                </a:r>
                <a:r>
                  <a:rPr lang="en-GB" dirty="0"/>
                  <a:t>-PRO used</a:t>
                </a:r>
              </a:p>
              <a:p>
                <a:pPr lvl="1"/>
                <a:r>
                  <a:rPr lang="en-GB" dirty="0"/>
                  <a:t>Computational domain of 10 cm</a:t>
                </a:r>
              </a:p>
              <a:p>
                <a:pPr lvl="1"/>
                <a:r>
                  <a:rPr lang="en-GB" dirty="0"/>
                  <a:t>Adaptive grid settings GRAD and CURV set to 0.01</a:t>
                </a:r>
              </a:p>
              <a:p>
                <a:pPr lvl="1"/>
                <a:endParaRPr lang="en-GB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5053B3-E379-D866-988F-F893A1224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425" y="2276872"/>
                <a:ext cx="11233150" cy="3769570"/>
              </a:xfrm>
              <a:blipFill>
                <a:blip r:embed="rId3"/>
                <a:stretch>
                  <a:fillRect l="-1683" t="-27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4C006-10F2-FB44-03BC-E8A6CB5B3CA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Numerical Procedure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D08A1-8A05-2D78-EF20-2ED66D2179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4076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F996C7D2-DBF4-F59C-D660-9429CAC5564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Experimental Data-points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of NH3/H2/air Flames</a:t>
                </a: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F996C7D2-DBF4-F59C-D660-9429CAC556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52" t="-20968" b="-45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4DDFC0D-4DBA-7E3D-AC83-617F54F5D9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9424" y="1500437"/>
                <a:ext cx="5400675" cy="4212430"/>
              </a:xfrm>
            </p:spPr>
            <p:txBody>
              <a:bodyPr/>
              <a:lstStyle/>
              <a:p>
                <a:r>
                  <a:rPr lang="en-US" sz="2400" dirty="0"/>
                  <a:t>Most experimental data available at 1 atm of pressure</a:t>
                </a:r>
              </a:p>
              <a:p>
                <a:r>
                  <a:rPr lang="en-US" sz="2400" dirty="0"/>
                  <a:t>Stoichiometric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400" dirty="0"/>
                  <a:t> equivalence ratio has the most data points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To evaluate reaction mechanisms pressure of 1 atm and equivalence ratio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 selected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4DDFC0D-4DBA-7E3D-AC83-617F54F5D9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9424" y="1500437"/>
                <a:ext cx="5400675" cy="4212430"/>
              </a:xfrm>
              <a:blipFill>
                <a:blip r:embed="rId3"/>
                <a:stretch>
                  <a:fillRect l="-3273" t="-2026" r="-4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61495E0-5FEF-6D91-432C-53DD237088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38660"/>
            <a:ext cx="5616575" cy="42124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4A413-AB19-7DFC-9AB9-3F8D3BCDFB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5311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94FDB1-5DD8-B9E7-A635-2847020C4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4021" y="1124744"/>
            <a:ext cx="7963958" cy="4778375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9CD3F-DDEB-35F0-1590-B4BEAB7342D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Development of the Present Mech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1506F-1891-8405-F7AF-B44D48DA9A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5A53BA-7F1B-DA21-5845-6B18797F2D98}"/>
              </a:ext>
            </a:extLst>
          </p:cNvPr>
          <p:cNvSpPr txBox="1"/>
          <p:nvPr/>
        </p:nvSpPr>
        <p:spPr>
          <a:xfrm>
            <a:off x="2135560" y="5877619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Figure: Experimental and numerical laminar burning velocity of NH3/H2/air flames under stoichiometric condition at various hydrogen concentrations.</a:t>
            </a:r>
          </a:p>
        </p:txBody>
      </p:sp>
    </p:spTree>
    <p:extLst>
      <p:ext uri="{BB962C8B-B14F-4D97-AF65-F5344CB8AC3E}">
        <p14:creationId xmlns:p14="http://schemas.microsoft.com/office/powerpoint/2010/main" val="421616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BD33C3-07D8-6E24-C64B-DABA2A777C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Normalized sensitivity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to rate constants of elementary reactions highlighted reactions with significant effect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Mechanisms were studied using reaction pathways constructed with integrated rate of production (IROP) of major NH3 and H2 oxidation species.</a:t>
                </a:r>
              </a:p>
              <a:p>
                <a:r>
                  <a:rPr lang="en-US" b="0" dirty="0"/>
                  <a:t>IROP </a:t>
                </a:r>
                <a:r>
                  <a:rPr lang="en-US" dirty="0"/>
                  <a:t>was </a:t>
                </a:r>
                <a:r>
                  <a:rPr lang="en-US" b="0" dirty="0"/>
                  <a:t>calculated with the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𝐼𝑅𝑂𝑃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Flame used for the analyses had hydrogen concentration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BD33C3-07D8-6E24-C64B-DABA2A777C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83" t="-21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4E911-D27C-FA92-4BCB-CF7AE83B5A6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Development of the Present Mech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F2B3C-7422-F620-97FD-F2649A8DBD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7511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755D35-0882-2892-EDC3-2C38FA048C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Sensitivity Analysis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755D35-0882-2892-EDC3-2C38FA048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52" t="-20968" b="-451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85168-58FB-1112-CF5A-7342CACFB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97EE0-084F-6EA8-1F3A-C452D92042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24608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D67F15-3E02-AC3D-E2FC-D73F68793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07" y="1362254"/>
            <a:ext cx="10691186" cy="404348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oter Placeholder 5">
                <a:extLst>
                  <a:ext uri="{FF2B5EF4-FFF2-40B4-BE49-F238E27FC236}">
                    <a16:creationId xmlns:a16="http://schemas.microsoft.com/office/drawing/2014/main" id="{DEB392FD-A7DC-53D3-86AA-59DB820A8B3D}"/>
                  </a:ext>
                </a:extLst>
              </p:cNvPr>
              <p:cNvSpPr>
                <a:spLocks noGrp="1"/>
              </p:cNvSpPr>
              <p:nvPr>
                <p:ph type="ftr" sz="quarter" idx="4294967295"/>
              </p:nvPr>
            </p:nvSpPr>
            <p:spPr>
              <a:xfrm>
                <a:off x="762000" y="260648"/>
                <a:ext cx="10014520" cy="381000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ja-JP" dirty="0"/>
                  <a:t>Reaction pathways of NH3/H2/air flame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6" name="Footer Placeholder 5">
                <a:extLst>
                  <a:ext uri="{FF2B5EF4-FFF2-40B4-BE49-F238E27FC236}">
                    <a16:creationId xmlns:a16="http://schemas.microsoft.com/office/drawing/2014/main" id="{DEB392FD-A7DC-53D3-86AA-59DB820A8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ftr" sz="quarter" idx="4294967295"/>
              </p:nvPr>
            </p:nvSpPr>
            <p:spPr>
              <a:xfrm>
                <a:off x="762000" y="260648"/>
                <a:ext cx="10014520" cy="381000"/>
              </a:xfrm>
              <a:blipFill>
                <a:blip r:embed="rId4"/>
                <a:stretch>
                  <a:fillRect l="-852" t="-11290" b="-5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C4219-3EB0-B365-10B3-08342118FE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160AE0-185D-4321-8E65-BC536618BE04}" type="slidenum">
              <a:rPr lang="en-US" altLang="ja-JP" smtClean="0"/>
              <a:pPr>
                <a:defRPr/>
              </a:pPr>
              <a:t>10</a:t>
            </a:fld>
            <a:endParaRPr lang="en-US" altLang="ja-JP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2F815-FBBD-6F5C-6657-204ABE3DAB9A}"/>
              </a:ext>
            </a:extLst>
          </p:cNvPr>
          <p:cNvSpPr txBox="1"/>
          <p:nvPr/>
        </p:nvSpPr>
        <p:spPr>
          <a:xfrm>
            <a:off x="762000" y="5682734"/>
            <a:ext cx="10662592" cy="33855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en-US" sz="1600" dirty="0"/>
              <a:t>Okafor Reduced Mech</a:t>
            </a:r>
          </a:p>
          <a:p>
            <a:pPr algn="ctr"/>
            <a:r>
              <a:rPr lang="en-US" sz="1600" dirty="0"/>
              <a:t>Gotama Mech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FD694-35C0-7260-D6C0-0D6F732C40DC}"/>
              </a:ext>
            </a:extLst>
          </p:cNvPr>
          <p:cNvSpPr txBox="1"/>
          <p:nvPr/>
        </p:nvSpPr>
        <p:spPr>
          <a:xfrm>
            <a:off x="2927648" y="4797152"/>
            <a:ext cx="576064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700" dirty="0"/>
              <a:t>Unimolecular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5B8B6-BF69-9E8C-1E1C-1C7179046A5E}"/>
              </a:ext>
            </a:extLst>
          </p:cNvPr>
          <p:cNvSpPr txBox="1"/>
          <p:nvPr/>
        </p:nvSpPr>
        <p:spPr>
          <a:xfrm>
            <a:off x="8328248" y="4293096"/>
            <a:ext cx="576064" cy="10772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700" dirty="0"/>
              <a:t>Unimolecular</a:t>
            </a:r>
          </a:p>
        </p:txBody>
      </p:sp>
    </p:spTree>
    <p:extLst>
      <p:ext uri="{BB962C8B-B14F-4D97-AF65-F5344CB8AC3E}">
        <p14:creationId xmlns:p14="http://schemas.microsoft.com/office/powerpoint/2010/main" val="1550952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C6EA-9035-0D33-4A05-51773F34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from Reaction Pathway Analysis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0AFAA-F130-D154-6997-1192234E26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NH2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GB" dirty="0"/>
                  <a:t> N2Hx pathways play a significant role in formation and consumption of N2Hx species.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0AFAA-F130-D154-6997-1192234E2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8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C3BDB-DBFE-6244-21E6-1440D47FE7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11</a:t>
            </a:fld>
            <a:endParaRPr lang="en-US" altLang="ja-JP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BD3651-E13A-1FD5-23B8-7AEE3B2BE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138" y="2708920"/>
            <a:ext cx="3997977" cy="2779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217A2B-2FAC-4B49-C4A1-30D2A50A0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504" y="2708920"/>
            <a:ext cx="3822706" cy="2779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1AFBF0-4DA6-69A2-B5E5-96B64647CE00}"/>
              </a:ext>
            </a:extLst>
          </p:cNvPr>
          <p:cNvSpPr txBox="1"/>
          <p:nvPr/>
        </p:nvSpPr>
        <p:spPr>
          <a:xfrm>
            <a:off x="762000" y="5682734"/>
            <a:ext cx="10662592" cy="33855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en-US" sz="1600" dirty="0"/>
              <a:t>Okafor Reduced Mech</a:t>
            </a:r>
          </a:p>
          <a:p>
            <a:pPr algn="ctr"/>
            <a:r>
              <a:rPr lang="en-US" sz="1600" dirty="0"/>
              <a:t>Gotama Mech</a:t>
            </a:r>
          </a:p>
        </p:txBody>
      </p:sp>
    </p:spTree>
    <p:extLst>
      <p:ext uri="{BB962C8B-B14F-4D97-AF65-F5344CB8AC3E}">
        <p14:creationId xmlns:p14="http://schemas.microsoft.com/office/powerpoint/2010/main" val="4097991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711F-F307-38DF-6B2A-6C0EA014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66D2-F1EB-ADBD-F246-EA7ADF83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from Reaction Pathway Analysis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D2695-CE28-7813-385F-F26AC1451D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NH2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GB" dirty="0"/>
                  <a:t> N2Hx pathways play a significant role in formation and consumption of N2Hx species.</a:t>
                </a:r>
              </a:p>
              <a:p>
                <a:r>
                  <a:rPr lang="en-GB" dirty="0"/>
                  <a:t>Present Mech was updated to model these pathways more accurately.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D2695-CE28-7813-385F-F26AC1451D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8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D1311-A640-6293-7A2A-3A592BC489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12</a:t>
            </a:fld>
            <a:endParaRPr lang="en-US" altLang="ja-JP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CC296F9-A6A6-5F9B-3962-112EDDD70FA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88497410"/>
                  </p:ext>
                </p:extLst>
              </p:nvPr>
            </p:nvGraphicFramePr>
            <p:xfrm>
              <a:off x="1134745" y="3140968"/>
              <a:ext cx="9922510" cy="2651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7280">
                      <a:extLst>
                        <a:ext uri="{9D8B030D-6E8A-4147-A177-3AD203B41FA5}">
                          <a16:colId xmlns:a16="http://schemas.microsoft.com/office/drawing/2014/main" val="32740374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2498635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0440453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400503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06075522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4852338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39659342"/>
                        </a:ext>
                      </a:extLst>
                    </a:gridCol>
                    <a:gridCol w="2068830">
                      <a:extLst>
                        <a:ext uri="{9D8B030D-6E8A-4147-A177-3AD203B41FA5}">
                          <a16:colId xmlns:a16="http://schemas.microsoft.com/office/drawing/2014/main" val="283438085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Elementary Reaction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Okafor Reduced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Present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Source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4223316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7792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NH+NH=N2H2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6.26E+13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-0.036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908339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NH2+NH2=N2H2+H2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7.83E+11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N. Stothard, et al. (1995)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12568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N2H2+NH=NNH+NH2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2.40E+06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3002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N2H2+NO=N2O+NH2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4.00E+12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11922.00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87746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N2H3+NH2=N2H2+NH3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9.20E+05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1.940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-1152.00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508121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NH2+NH&lt;=&gt;N2H2+H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4.30E+14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-0.272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-77.00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6119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NH2+NH=N2H2+H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19163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CC296F9-A6A6-5F9B-3962-112EDDD70FA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88497410"/>
                  </p:ext>
                </p:extLst>
              </p:nvPr>
            </p:nvGraphicFramePr>
            <p:xfrm>
              <a:off x="1134745" y="3140968"/>
              <a:ext cx="9922510" cy="2651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7280">
                      <a:extLst>
                        <a:ext uri="{9D8B030D-6E8A-4147-A177-3AD203B41FA5}">
                          <a16:colId xmlns:a16="http://schemas.microsoft.com/office/drawing/2014/main" val="32740374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2498635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0440453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400503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06075522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4852338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39659342"/>
                        </a:ext>
                      </a:extLst>
                    </a:gridCol>
                    <a:gridCol w="2068830">
                      <a:extLst>
                        <a:ext uri="{9D8B030D-6E8A-4147-A177-3AD203B41FA5}">
                          <a16:colId xmlns:a16="http://schemas.microsoft.com/office/drawing/2014/main" val="283438085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Elementary Reaction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Okafor Reduced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Present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Source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4223316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9333" t="-108333" r="-728000" b="-5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9333" t="-108333" r="-628000" b="-5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9333" t="-108333" r="-528000" b="-5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5629" t="-108333" r="-424503" b="-5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0000" t="-108333" r="-327333" b="-5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0000" t="-108333" r="-227333" b="-54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7792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NH+NH=N2H2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6.26E+13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-0.036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908339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NH2+NH2=N2H2+H2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7.83E+11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N. Stothard, et al. (1995)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12568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N2H2+NH=NNH+NH2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2.40E+06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3002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N2H2+NO=N2O+NH2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4.00E+12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11922.00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87746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N2H3+NH2=N2H2+NH3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9.20E+05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1.940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-1152.00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508121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NH2+NH&lt;=&gt;N2H2+H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4.30E+14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-0.272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-77.00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6119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NH2+NH=N2H2+H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19163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99658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CA59-67D8-3660-3A95-60D27C2A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F32B-8040-37A7-5F74-D94E20509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from Reaction Pathway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51C4D-B2BB-95DC-2F57-DB21F757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N2H2 formed contributes to the formation of NNH</a:t>
            </a:r>
          </a:p>
          <a:p>
            <a:pPr lvl="1"/>
            <a:r>
              <a:rPr lang="en-GB" dirty="0"/>
              <a:t>Primarily through the decomposition of N2H2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DA47E-D996-79A2-47F5-81035756BA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13</a:t>
            </a:fld>
            <a:endParaRPr lang="en-US" altLang="ja-JP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6329D7-13CB-D24A-CB11-F68CFD0A5E7A}"/>
              </a:ext>
            </a:extLst>
          </p:cNvPr>
          <p:cNvGrpSpPr/>
          <p:nvPr/>
        </p:nvGrpSpPr>
        <p:grpSpPr>
          <a:xfrm>
            <a:off x="1893427" y="2204864"/>
            <a:ext cx="8667069" cy="4480770"/>
            <a:chOff x="1893427" y="2204864"/>
            <a:chExt cx="8667069" cy="4480770"/>
          </a:xfrm>
        </p:grpSpPr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A59D35AD-FABC-C80D-1E76-37E387A0530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8389637"/>
                </p:ext>
              </p:extLst>
            </p:nvPr>
          </p:nvGraphicFramePr>
          <p:xfrm>
            <a:off x="1893428" y="2204864"/>
            <a:ext cx="8667068" cy="448077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FB4010-AC9B-B203-2FC6-E6914D79FA7B}"/>
                    </a:ext>
                  </a:extLst>
                </p14:cNvPr>
                <p14:cNvContentPartPr/>
                <p14:nvPr/>
              </p14:nvContentPartPr>
              <p14:xfrm>
                <a:off x="1893429" y="5889316"/>
                <a:ext cx="826092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FB4010-AC9B-B203-2FC6-E6914D79FA7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39429" y="5781316"/>
                  <a:ext cx="8368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769DE2-DE31-F1BF-0416-EA53D12C9602}"/>
                    </a:ext>
                  </a:extLst>
                </p14:cNvPr>
                <p14:cNvContentPartPr/>
                <p14:nvPr/>
              </p14:nvContentPartPr>
              <p14:xfrm>
                <a:off x="1893428" y="5804904"/>
                <a:ext cx="8260921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769DE2-DE31-F1BF-0416-EA53D12C96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39428" y="5697264"/>
                  <a:ext cx="8368561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BBA519-21C7-B7BD-8452-87D5941D15CE}"/>
                    </a:ext>
                  </a:extLst>
                </p14:cNvPr>
                <p14:cNvContentPartPr/>
                <p14:nvPr/>
              </p14:nvContentPartPr>
              <p14:xfrm>
                <a:off x="1893428" y="4521524"/>
                <a:ext cx="826092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BBA519-21C7-B7BD-8452-87D5941D15C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39428" y="4413524"/>
                  <a:ext cx="8368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7D2BF8-1F1C-9DA1-5AE5-4838A9645915}"/>
                    </a:ext>
                  </a:extLst>
                </p14:cNvPr>
                <p14:cNvContentPartPr/>
                <p14:nvPr/>
              </p14:nvContentPartPr>
              <p14:xfrm>
                <a:off x="1893427" y="4437112"/>
                <a:ext cx="8260921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7D2BF8-1F1C-9DA1-5AE5-4838A964591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39427" y="4329472"/>
                  <a:ext cx="8368561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DAA3FB-3277-AAE7-62E1-C3F9BA60922A}"/>
                    </a:ext>
                  </a:extLst>
                </p14:cNvPr>
                <p14:cNvContentPartPr/>
                <p14:nvPr/>
              </p14:nvContentPartPr>
              <p14:xfrm>
                <a:off x="1893428" y="4883506"/>
                <a:ext cx="826092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DAA3FB-3277-AAE7-62E1-C3F9BA6092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39428" y="4775506"/>
                  <a:ext cx="8368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FB3545-251C-3DB0-93CD-B1A4CE7D829C}"/>
                    </a:ext>
                  </a:extLst>
                </p14:cNvPr>
                <p14:cNvContentPartPr/>
                <p14:nvPr/>
              </p14:nvContentPartPr>
              <p14:xfrm>
                <a:off x="1893427" y="4799094"/>
                <a:ext cx="8260921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FB3545-251C-3DB0-93CD-B1A4CE7D829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39427" y="4691454"/>
                  <a:ext cx="8368561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3166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AB6C-0B2B-810F-6064-CCE19A02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from Reaction Pathway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5C36B-7265-9830-2A07-8939B614F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Mech was updated with rate constants below to model these pathways.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3084A-C599-C830-74F8-5062579EA3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14</a:t>
            </a:fld>
            <a:endParaRPr lang="en-US" altLang="ja-JP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2FEC1401-CB9A-D084-C897-F2E8A2D7004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33560735"/>
                  </p:ext>
                </p:extLst>
              </p:nvPr>
            </p:nvGraphicFramePr>
            <p:xfrm>
              <a:off x="1153795" y="2896344"/>
              <a:ext cx="9922510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7280">
                      <a:extLst>
                        <a:ext uri="{9D8B030D-6E8A-4147-A177-3AD203B41FA5}">
                          <a16:colId xmlns:a16="http://schemas.microsoft.com/office/drawing/2014/main" val="32740374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2498635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0440453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400503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06075522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4852338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39659342"/>
                        </a:ext>
                      </a:extLst>
                    </a:gridCol>
                    <a:gridCol w="2068830">
                      <a:extLst>
                        <a:ext uri="{9D8B030D-6E8A-4147-A177-3AD203B41FA5}">
                          <a16:colId xmlns:a16="http://schemas.microsoft.com/office/drawing/2014/main" val="283438085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Elementary Reaction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Okafor Reduced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Present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Source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04223316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7792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N2H2+NH=NNH+NH2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2.40E+06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923002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N2H2+NH2=NNH+NH3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8.80E-02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4.050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83715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N2H2+H=NNH+H2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8.50E+04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2.630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230.00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1.10E+14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3128.00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P. Glarborg, et al. (2018)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453476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N2H2+OH=NNH+H2O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21969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2FEC1401-CB9A-D084-C897-F2E8A2D7004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33560735"/>
                  </p:ext>
                </p:extLst>
              </p:nvPr>
            </p:nvGraphicFramePr>
            <p:xfrm>
              <a:off x="1153795" y="2896344"/>
              <a:ext cx="9922510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7280">
                      <a:extLst>
                        <a:ext uri="{9D8B030D-6E8A-4147-A177-3AD203B41FA5}">
                          <a16:colId xmlns:a16="http://schemas.microsoft.com/office/drawing/2014/main" val="32740374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2498635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0440453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400503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06075522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4852338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39659342"/>
                        </a:ext>
                      </a:extLst>
                    </a:gridCol>
                    <a:gridCol w="2068830">
                      <a:extLst>
                        <a:ext uri="{9D8B030D-6E8A-4147-A177-3AD203B41FA5}">
                          <a16:colId xmlns:a16="http://schemas.microsoft.com/office/drawing/2014/main" val="283438085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Elementary Reaction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Okafor Reduced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Present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Source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04223316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667" t="-108333" r="-728000" b="-3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667" t="-108333" r="-628000" b="-3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8667" t="-108333" r="-528000" b="-3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4967" t="-108333" r="-424503" b="-3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9333" t="-108333" r="-327333" b="-3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333" t="-108333" r="-227333" b="-323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7792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N2H2+NH=NNH+NH2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2.40E+06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923002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N2H2+NH2=NNH+NH3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8.80E-02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4.050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83715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N2H2+H=NNH+H2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8.50E+04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2.630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230.00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1.10E+14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3128.00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P. Glarborg, et al. (2018)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453476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N2H2+OH=NNH+H2O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21969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1420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BC7E-F827-763C-963C-6102CEC8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19FE-C83C-A011-B206-33C99CEF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from Reaction Pathway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18AF9-0576-3FD1-E327-3BF880C47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NNH is consumed primarily through its decomposition to produce H radicals.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BAE66-EC9A-0810-E1DD-7263DCA6CD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111F47-4E71-37FE-C84B-8E590619E60D}"/>
              </a:ext>
            </a:extLst>
          </p:cNvPr>
          <p:cNvGrpSpPr/>
          <p:nvPr/>
        </p:nvGrpSpPr>
        <p:grpSpPr>
          <a:xfrm>
            <a:off x="1883532" y="2201394"/>
            <a:ext cx="8424936" cy="4484240"/>
            <a:chOff x="1631504" y="1933106"/>
            <a:chExt cx="8928992" cy="4752528"/>
          </a:xfrm>
        </p:grpSpPr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4808A1D5-4C20-27E0-2F89-F4A3A759A0B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05449632"/>
                </p:ext>
              </p:extLst>
            </p:nvPr>
          </p:nvGraphicFramePr>
          <p:xfrm>
            <a:off x="1631504" y="1933106"/>
            <a:ext cx="8928992" cy="47525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00E0119-B471-5931-F480-4705BA495CB6}"/>
                    </a:ext>
                  </a:extLst>
                </p14:cNvPr>
                <p14:cNvContentPartPr/>
                <p14:nvPr/>
              </p14:nvContentPartPr>
              <p14:xfrm>
                <a:off x="2447469" y="2277796"/>
                <a:ext cx="59295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00E0119-B471-5931-F480-4705BA495CB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90238" y="2169796"/>
                  <a:ext cx="6043641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7F62CF-4A63-B384-C1AC-AA5BA624195D}"/>
                    </a:ext>
                  </a:extLst>
                </p14:cNvPr>
                <p14:cNvContentPartPr/>
                <p14:nvPr/>
              </p14:nvContentPartPr>
              <p14:xfrm>
                <a:off x="2469208" y="2184916"/>
                <a:ext cx="5881429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7F62CF-4A63-B384-C1AC-AA5BA62419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11977" y="2076916"/>
                  <a:ext cx="5995509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5918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83C8-EC53-9D22-2941-0A55386C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A5E5-3C5B-8E7D-8FE9-99884AAB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from Reaction Pathway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F2678-643E-2B99-9A81-5CCE23D17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Increased formation of NNH yields an increased contribution to H radical production.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0EDB7-6861-4027-6EF8-00A2A76DC0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441FDEE-6FF7-2012-6AA0-79ADF800A0CB}"/>
              </a:ext>
            </a:extLst>
          </p:cNvPr>
          <p:cNvGrpSpPr/>
          <p:nvPr/>
        </p:nvGrpSpPr>
        <p:grpSpPr>
          <a:xfrm>
            <a:off x="2375586" y="2113384"/>
            <a:ext cx="7440828" cy="4464496"/>
            <a:chOff x="2375586" y="2113384"/>
            <a:chExt cx="7440828" cy="4464496"/>
          </a:xfrm>
        </p:grpSpPr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BB5C1375-6BBA-5ECF-49E0-29ACC89EC55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00789350"/>
                </p:ext>
              </p:extLst>
            </p:nvPr>
          </p:nvGraphicFramePr>
          <p:xfrm>
            <a:off x="2375586" y="2113384"/>
            <a:ext cx="7440828" cy="446449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41867B-8C81-6082-8007-9A30D6633D64}"/>
                    </a:ext>
                  </a:extLst>
                </p14:cNvPr>
                <p14:cNvContentPartPr/>
                <p14:nvPr/>
              </p14:nvContentPartPr>
              <p14:xfrm>
                <a:off x="2999088" y="2857392"/>
                <a:ext cx="36957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41867B-8C81-6082-8007-9A30D6633D6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45088" y="2749752"/>
                  <a:ext cx="3803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34B044-D6D5-3B6C-76A1-620923DB3E6D}"/>
                    </a:ext>
                  </a:extLst>
                </p14:cNvPr>
                <p14:cNvContentPartPr/>
                <p14:nvPr/>
              </p14:nvContentPartPr>
              <p14:xfrm>
                <a:off x="2541888" y="4896432"/>
                <a:ext cx="3456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34B044-D6D5-3B6C-76A1-620923DB3E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87888" y="4788792"/>
                  <a:ext cx="3564000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5104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11D7-0C8E-DBA0-6759-E1FF245B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Updates in Present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5A2BFE47-DF4F-9AC3-F112-0383B55F8E4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22524348"/>
                  </p:ext>
                </p:extLst>
              </p:nvPr>
            </p:nvGraphicFramePr>
            <p:xfrm>
              <a:off x="1153795" y="1268413"/>
              <a:ext cx="9922510" cy="4846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7280">
                      <a:extLst>
                        <a:ext uri="{9D8B030D-6E8A-4147-A177-3AD203B41FA5}">
                          <a16:colId xmlns:a16="http://schemas.microsoft.com/office/drawing/2014/main" val="32740374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2498635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0440453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400503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06075522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4852338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39659342"/>
                        </a:ext>
                      </a:extLst>
                    </a:gridCol>
                    <a:gridCol w="2068830">
                      <a:extLst>
                        <a:ext uri="{9D8B030D-6E8A-4147-A177-3AD203B41FA5}">
                          <a16:colId xmlns:a16="http://schemas.microsoft.com/office/drawing/2014/main" val="283438085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Elementary Reaction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Okafor Reduced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Present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Source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04223316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7792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NH+NH=N2H2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6.26E+13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-0.036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908339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NH2+NH2=N2H2+H2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7.83E+11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N. Stothard, et al. (1995)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12568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NH2+NH2=N2H2+H2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7.83E+11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N. Stothard, et al. (1995)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0952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N2H2+NH=NNH+NH2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2.40E+06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923002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N2H2+NH2=NNH+NH3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8.80E-02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4.050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83715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N2H3+NH2=N2H2+NH3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9.20E+05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1.940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-1152.00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89256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N2H2+NO=N2O+NH2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4.00E+12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11922.00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87746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N2H3+O=N2H2+OH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1.70E+08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1.500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-646.00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023859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N2H3+OH=N2H2+H2O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1.20E+06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70189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N2H2+H=NNH+H2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8.50E+04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2.630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230.00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1.10E+14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3128.00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P. Glarborg, et al. (2018)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453476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N2H2+OH=NNH+H2O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219690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NH2+NH&lt;=&gt;N2H2+H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4.30E+14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-0.272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-77.00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816119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NH2+NH=N2H2+H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8191633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N2H3+M=N2H2+H+M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2.00E+16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37000.00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683819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N2H3+HO2=N2H2+H2O2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1.40E+04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2.690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-1600.00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98521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5A2BFE47-DF4F-9AC3-F112-0383B55F8E4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22524348"/>
                  </p:ext>
                </p:extLst>
              </p:nvPr>
            </p:nvGraphicFramePr>
            <p:xfrm>
              <a:off x="1153795" y="1268413"/>
              <a:ext cx="9922510" cy="4846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7280">
                      <a:extLst>
                        <a:ext uri="{9D8B030D-6E8A-4147-A177-3AD203B41FA5}">
                          <a16:colId xmlns:a16="http://schemas.microsoft.com/office/drawing/2014/main" val="32740374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2498635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20440453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400503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06075522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4852338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439659342"/>
                        </a:ext>
                      </a:extLst>
                    </a:gridCol>
                    <a:gridCol w="2068830">
                      <a:extLst>
                        <a:ext uri="{9D8B030D-6E8A-4147-A177-3AD203B41FA5}">
                          <a16:colId xmlns:a16="http://schemas.microsoft.com/office/drawing/2014/main" val="283438085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Elementary Reaction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Okafor Reduced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Present Mech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Source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04223316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8667" t="-108333" r="-728000" b="-11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8667" t="-108333" r="-628000" b="-11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8667" t="-108333" r="-528000" b="-11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54967" t="-108333" r="-424503" b="-11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9333" t="-108333" r="-327333" b="-11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9333" t="-108333" r="-227333" b="-114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7792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NH+NH=N2H2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6.26E+13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-0.036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908339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NH2+NH2=N2H2+H2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7.83E+11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N. Stothard, et al. (1995)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12568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NH2+NH2=N2H2+H2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7.83E+11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N. Stothard, et al. (1995)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0952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N2H2+NH=NNH+NH2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2.40E+06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923002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N2H2+NH2=NNH+NH3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8.80E-02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4.050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-1610.00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4837155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N2H3+NH2=N2H2+NH3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9.20E+05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1.940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-1152.00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89256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N2H2+NO=N2O+NH2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4.00E+12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11922.00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87746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N2H3+O=N2H2+OH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1.70E+08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1.500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-646.00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023859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N2H3+OH=N2H2+H2O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1.20E+06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-1192.00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A.M. Dean, et al. (2000)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70189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N2H2+H=NNH+H2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8.50E+04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2.630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230.00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1.10E+14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3128.00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P. Glarborg, et al. (2018)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453476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N2H2+OH=NNH+H2O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5.90E+01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3.400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-1363.00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D.P. Linder, et al. (1996)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219690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NH2+NH&lt;=&gt;N2H2+H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4.30E+14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-0.272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-77.00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S.J. Klippenstein, et al. (2009)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816119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NH2+NH=N2H2+H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5.00E+13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8191633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N2H3+M=N2H2+H+M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2.00E+16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0.000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37000.00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683819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N2H3+HO2=N2H2+H2O2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1.40E+04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2.690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US" sz="11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-1600.00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T="9525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98521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156AE-9E5F-AE69-E197-65877A13FF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9349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D21729-252F-7E36-759C-D93FFD579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4021" y="1124744"/>
            <a:ext cx="7963958" cy="4778375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33C76-7CB5-55C1-BA02-BE610482C5D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62000" y="260648"/>
            <a:ext cx="10014520" cy="381000"/>
          </a:xfrm>
        </p:spPr>
        <p:txBody>
          <a:bodyPr/>
          <a:lstStyle/>
          <a:p>
            <a:pPr algn="l">
              <a:defRPr/>
            </a:pPr>
            <a:r>
              <a:rPr lang="en-US" altLang="ja-JP" dirty="0"/>
              <a:t>Present Mech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06C8-22BF-309F-7BAD-171935336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18</a:t>
            </a:fld>
            <a:endParaRPr lang="en-US" altLang="ja-J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2E32E-5FFC-8A0E-F3C1-0B2075DAEA58}"/>
              </a:ext>
            </a:extLst>
          </p:cNvPr>
          <p:cNvSpPr txBox="1"/>
          <p:nvPr/>
        </p:nvSpPr>
        <p:spPr>
          <a:xfrm>
            <a:off x="2135560" y="5877619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Figure: Experimental and numerical laminar burning velocity of NH3/H2/air flames under stoichiometric condition at various hydrogen concentrations.</a:t>
            </a:r>
          </a:p>
        </p:txBody>
      </p:sp>
    </p:spTree>
    <p:extLst>
      <p:ext uri="{BB962C8B-B14F-4D97-AF65-F5344CB8AC3E}">
        <p14:creationId xmlns:p14="http://schemas.microsoft.com/office/powerpoint/2010/main" val="674305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63FDA88-BF78-529C-3D79-B84AA204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Validation – NH3/H2/air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F2CD2B9-CE34-FB16-8B3A-44603BA47C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425" y="1824673"/>
            <a:ext cx="5400675" cy="3240405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6E42C28-C199-16B1-3E72-670F6FBF43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808687"/>
            <a:ext cx="5400676" cy="324040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7C3B0-688B-C2D3-14BD-087A84030E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874FCD-9653-949E-95EC-A8840D6A4072}"/>
                  </a:ext>
                </a:extLst>
              </p:cNvPr>
              <p:cNvSpPr txBox="1"/>
              <p:nvPr/>
            </p:nvSpPr>
            <p:spPr>
              <a:xfrm>
                <a:off x="479425" y="5229200"/>
                <a:ext cx="540067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Figure 1: Comparison of measured and simulated laminar burning velocity of NH3/H2/air flames under lean condition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=0.7</m:t>
                        </m:r>
                      </m:e>
                    </m:d>
                  </m:oMath>
                </a14:m>
                <a:r>
                  <a:rPr lang="en-US" sz="1400" dirty="0"/>
                  <a:t> and 1 atm of pressure.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874FCD-9653-949E-95EC-A8840D6A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5" y="5229200"/>
                <a:ext cx="5400675" cy="738664"/>
              </a:xfrm>
              <a:prstGeom prst="rect">
                <a:avLst/>
              </a:prstGeom>
              <a:blipFill>
                <a:blip r:embed="rId5"/>
                <a:stretch>
                  <a:fillRect l="-339" t="-1653" r="-1129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E2CE2E-C09A-9D80-69DD-E3946452A5BC}"/>
                  </a:ext>
                </a:extLst>
              </p:cNvPr>
              <p:cNvSpPr txBox="1"/>
              <p:nvPr/>
            </p:nvSpPr>
            <p:spPr>
              <a:xfrm>
                <a:off x="6096001" y="5129848"/>
                <a:ext cx="540067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Figure 2: Comparison of measured and simulated laminar burning velocity of NH3/H2/air flames under rich condition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=1.4</m:t>
                        </m:r>
                      </m:e>
                    </m:d>
                  </m:oMath>
                </a14:m>
                <a:r>
                  <a:rPr lang="en-US" sz="1400" dirty="0"/>
                  <a:t> and 1 atm of pressure.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E2CE2E-C09A-9D80-69DD-E3946452A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5129848"/>
                <a:ext cx="5400676" cy="738664"/>
              </a:xfrm>
              <a:prstGeom prst="rect">
                <a:avLst/>
              </a:prstGeom>
              <a:blipFill>
                <a:blip r:embed="rId6"/>
                <a:stretch>
                  <a:fillRect l="-339" t="-1653" r="-226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449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9D1A46-5D8F-4403-6081-82DF5F8F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– NH3/CH4/air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B58D9ED-C762-5FD5-631A-D67C968D3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4021" y="1124744"/>
            <a:ext cx="7963958" cy="477837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E24B0-4DD2-FEDE-6BF8-ADE28B4F2D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160AE0-185D-4321-8E65-BC536618BE04}" type="slidenum">
              <a:rPr lang="en-US" altLang="ja-JP" smtClean="0"/>
              <a:pPr>
                <a:defRPr/>
              </a:pPr>
              <a:t>20</a:t>
            </a:fld>
            <a:endParaRPr lang="en-US" altLang="ja-JP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E4723-FD51-D863-6173-13FC2AB25BF7}"/>
              </a:ext>
            </a:extLst>
          </p:cNvPr>
          <p:cNvSpPr txBox="1"/>
          <p:nvPr/>
        </p:nvSpPr>
        <p:spPr>
          <a:xfrm>
            <a:off x="2114021" y="5858108"/>
            <a:ext cx="7963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Figure: Comparison of measured and simulated laminar burning velocity of NH3/CH4/air flames under stoichiometric condition and 1 atm of pressure.</a:t>
            </a:r>
          </a:p>
        </p:txBody>
      </p:sp>
    </p:spTree>
    <p:extLst>
      <p:ext uri="{BB962C8B-B14F-4D97-AF65-F5344CB8AC3E}">
        <p14:creationId xmlns:p14="http://schemas.microsoft.com/office/powerpoint/2010/main" val="3886026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2278-8799-F402-4490-3600455A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– NH3/CH4/air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7804-0335-EAE7-6468-C2ED8AEAD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F652D-2709-175C-CC3C-68F6A7220D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030BFF-6758-4814-A89A-12C821A76488}" type="slidenum">
              <a:rPr lang="en-US" altLang="ja-JP" smtClean="0"/>
              <a:pPr>
                <a:defRPr/>
              </a:pPr>
              <a:t>21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44389990"/>
      </p:ext>
    </p:extLst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C715DFC87AEC746B6E619DC903AC002" ma:contentTypeVersion="13" ma:contentTypeDescription="新しいドキュメントを作成します。" ma:contentTypeScope="" ma:versionID="aa17f1492cbf83ee66dd3c5755e3c0c8">
  <xsd:schema xmlns:xsd="http://www.w3.org/2001/XMLSchema" xmlns:xs="http://www.w3.org/2001/XMLSchema" xmlns:p="http://schemas.microsoft.com/office/2006/metadata/properties" xmlns:ns3="4c4639b9-ffc3-40db-9ad9-f2d2fa56049e" xmlns:ns4="5300894c-015e-4e73-9e9a-c62eb38f0dbe" targetNamespace="http://schemas.microsoft.com/office/2006/metadata/properties" ma:root="true" ma:fieldsID="972fc8aede851579bc776d06a2daffa5" ns3:_="" ns4:_="">
    <xsd:import namespace="4c4639b9-ffc3-40db-9ad9-f2d2fa56049e"/>
    <xsd:import namespace="5300894c-015e-4e73-9e9a-c62eb38f0d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639b9-ffc3-40db-9ad9-f2d2fa5604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00894c-015e-4e73-9e9a-c62eb38f0d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0DF8EC-7DE8-4F6C-8A29-3A49F665EFE3}">
  <ds:schemaRefs>
    <ds:schemaRef ds:uri="http://purl.org/dc/elements/1.1/"/>
    <ds:schemaRef ds:uri="http://purl.org/dc/dcmitype/"/>
    <ds:schemaRef ds:uri="4c4639b9-ffc3-40db-9ad9-f2d2fa56049e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5300894c-015e-4e73-9e9a-c62eb38f0db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ABEC41F-200F-4D36-8A42-5C9C153744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4639b9-ffc3-40db-9ad9-f2d2fa56049e"/>
    <ds:schemaRef ds:uri="5300894c-015e-4e73-9e9a-c62eb38f0d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6B76C4-5C7C-488F-A583-DEEA7B62FA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3768</TotalTime>
  <Words>1625</Words>
  <Application>Microsoft Office PowerPoint</Application>
  <PresentationFormat>Widescreen</PresentationFormat>
  <Paragraphs>304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 Narrow</vt:lpstr>
      <vt:lpstr>Arial</vt:lpstr>
      <vt:lpstr>Cambria Math</vt:lpstr>
      <vt:lpstr>新しいプレゼンテーション</vt:lpstr>
      <vt:lpstr>Importance of N2Hx Reaction Pathways in Modelling of NH3/H2/Air Flame Chemistry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Data-points for S_L of NH3/H2/air Flames</vt:lpstr>
      <vt:lpstr>PowerPoint Presentation</vt:lpstr>
      <vt:lpstr>PowerPoint Presentation</vt:lpstr>
      <vt:lpstr>Sensitivity Analysis of S_L</vt:lpstr>
      <vt:lpstr>PowerPoint Presentation</vt:lpstr>
      <vt:lpstr>Key Findings from Reaction Pathway Analysis</vt:lpstr>
      <vt:lpstr>Key Findings from Reaction Pathway Analysis</vt:lpstr>
      <vt:lpstr>Key Findings from Reaction Pathway Analysis</vt:lpstr>
      <vt:lpstr>Key Findings from Reaction Pathway Analysis</vt:lpstr>
      <vt:lpstr>Key Findings from Reaction Pathway Analysis</vt:lpstr>
      <vt:lpstr>Key Findings from Reaction Pathway Analysis</vt:lpstr>
      <vt:lpstr>Updates in Present Mechanism</vt:lpstr>
      <vt:lpstr>PowerPoint Presentation</vt:lpstr>
      <vt:lpstr>Validation – NH3/H2/air</vt:lpstr>
      <vt:lpstr>Validation – NH3/CH4/air</vt:lpstr>
      <vt:lpstr>Validation – NH3/CH4/air</vt:lpstr>
    </vt:vector>
  </TitlesOfParts>
  <Company>Ihara .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UIプロジェクトX</dc:title>
  <dc:creator>森永 正樹</dc:creator>
  <cp:lastModifiedBy>Urothiyil Aahil Ashraf</cp:lastModifiedBy>
  <cp:revision>106</cp:revision>
  <cp:lastPrinted>2013-02-26T06:20:36Z</cp:lastPrinted>
  <dcterms:created xsi:type="dcterms:W3CDTF">2007-10-25T08:30:33Z</dcterms:created>
  <dcterms:modified xsi:type="dcterms:W3CDTF">2026-10-22T21:56:14Z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0x010100AC715DFC87AEC746B6E619DC903AC002</vt:lpwstr>
  </property>
</Properties>
</file>