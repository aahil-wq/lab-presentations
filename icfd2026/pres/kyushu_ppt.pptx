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0" r:id="rId2"/>
    <p:sldId id="263" r:id="rId3"/>
    <p:sldId id="264" r:id="rId4"/>
    <p:sldId id="261" r:id="rId5"/>
    <p:sldId id="262" r:id="rId6"/>
  </p:sldIdLst>
  <p:sldSz cx="9144000" cy="6858000" type="screen4x3"/>
  <p:notesSz cx="9144000" cy="6858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9393"/>
    <a:srgbClr val="AA6273"/>
    <a:srgbClr val="DCA7BB"/>
    <a:srgbClr val="D787A5"/>
    <a:srgbClr val="BA6A89"/>
    <a:srgbClr val="6D0029"/>
    <a:srgbClr val="4C0026"/>
    <a:srgbClr val="2600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49"/>
    <p:restoredTop sz="94725"/>
  </p:normalViewPr>
  <p:slideViewPr>
    <p:cSldViewPr showGuides="1">
      <p:cViewPr varScale="1">
        <p:scale>
          <a:sx n="123" d="100"/>
          <a:sy n="123" d="100"/>
        </p:scale>
        <p:origin x="133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itchFamily="-1" charset="0"/>
                <a:ea typeface="ＭＳ Ｐゴシック" pitchFamily="-1" charset="-128"/>
                <a:cs typeface="ＭＳ Ｐゴシック" pitchFamily="-1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pitchFamily="-1" charset="-128"/>
              </a:defRPr>
            </a:lvl1pPr>
          </a:lstStyle>
          <a:p>
            <a:pPr>
              <a:defRPr/>
            </a:pPr>
            <a:fld id="{57BB2D1D-608B-49D7-A3CE-C809D52F068D}" type="datetime1">
              <a:rPr lang="ja-JP" altLang="en-US"/>
              <a:pPr>
                <a:defRPr/>
              </a:pPr>
              <a:t>2026/10/7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itchFamily="-1" charset="0"/>
                <a:ea typeface="ＭＳ Ｐゴシック" pitchFamily="-1" charset="-128"/>
                <a:cs typeface="ＭＳ Ｐゴシック" pitchFamily="-1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509C1E95-D35A-4A5A-B34D-F23A06A9174E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Arial" charset="0"/>
                <a:ea typeface="ＭＳ Ｐゴシック" pitchFamily="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Arial" charset="0"/>
                <a:ea typeface="ＭＳ Ｐゴシック" pitchFamily="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Arial" charset="0"/>
                <a:ea typeface="ＭＳ Ｐゴシック" pitchFamily="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smtClean="0"/>
            </a:lvl1pPr>
          </a:lstStyle>
          <a:p>
            <a:pPr>
              <a:defRPr/>
            </a:pPr>
            <a:fld id="{6743311B-ABCC-42EF-A68F-C3442C3E34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8" charset="-128"/>
        <a:cs typeface="ＭＳ Ｐゴシック" pitchFamily="-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spcBef>
                <a:spcPct val="0"/>
              </a:spcBef>
            </a:pPr>
            <a:fld id="{1DA47929-3354-436B-84B8-00A6171C5F27}" type="slidenum">
              <a:rPr lang="en-US" altLang="ja-JP"/>
              <a:pPr>
                <a:spcBef>
                  <a:spcPct val="0"/>
                </a:spcBef>
              </a:pPr>
              <a:t>0</a:t>
            </a:fld>
            <a:endParaRPr lang="en-US" altLang="ja-JP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ＭＳ Ｐゴシック" panose="020B0600070205080204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 bwMode="auto">
          <a:xfrm>
            <a:off x="0" y="836612"/>
            <a:ext cx="9144000" cy="3024187"/>
          </a:xfrm>
          <a:prstGeom prst="rect">
            <a:avLst/>
          </a:prstGeom>
          <a:solidFill>
            <a:srgbClr val="6D0029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1" lang="ja-JP" altLang="en-US"/>
          </a:p>
        </p:txBody>
      </p:sp>
      <p:pic>
        <p:nvPicPr>
          <p:cNvPr id="5" name="Picture 22" descr="F:\work\ppt template\0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5715000"/>
            <a:ext cx="1038225" cy="98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824030"/>
            <a:ext cx="7772400" cy="533400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2581276"/>
            <a:ext cx="7772400" cy="990600"/>
          </a:xfrm>
        </p:spPr>
        <p:txBody>
          <a:bodyPr/>
          <a:lstStyle>
            <a:lvl1pPr marL="0" indent="0" algn="ctr">
              <a:defRPr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マスタ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150162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B469B47-1B01-4928-9290-C49798A9265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53C35965-6CAD-0346-BB1C-AE6FD05C49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6996" y="1296630"/>
            <a:ext cx="4089104" cy="4940681"/>
          </a:xfrm>
        </p:spPr>
        <p:txBody>
          <a:bodyPr lIns="0" tIns="0" rIns="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9" name="テキスト プレースホルダー 6">
            <a:extLst>
              <a:ext uri="{FF2B5EF4-FFF2-40B4-BE49-F238E27FC236}">
                <a16:creationId xmlns:a16="http://schemas.microsoft.com/office/drawing/2014/main" id="{3696F980-6CF3-0240-BC7F-D9C98EFE78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04085" y="1296630"/>
            <a:ext cx="4089104" cy="4940681"/>
          </a:xfrm>
        </p:spPr>
        <p:txBody>
          <a:bodyPr lIns="0" tIns="0" rIns="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1BC955A7-12A7-0449-8F8C-A48BDA02178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738187" y="360349"/>
            <a:ext cx="2538413" cy="2286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/>
            </a:lvl1pPr>
          </a:lstStyle>
          <a:p>
            <a:pPr>
              <a:defRPr/>
            </a:pPr>
            <a:r>
              <a:rPr lang="en-US" altLang="ja-JP" dirty="0" err="1"/>
              <a:t>九州大学UIプロジェクト</a:t>
            </a:r>
            <a:r>
              <a:rPr lang="en-US" altLang="ja-JP" dirty="0"/>
              <a:t> </a:t>
            </a:r>
            <a:r>
              <a:rPr lang="en-US" altLang="ja-JP" dirty="0" err="1"/>
              <a:t>Kyudai</a:t>
            </a:r>
            <a:r>
              <a:rPr lang="en-US" altLang="ja-JP" dirty="0"/>
              <a:t> Taro,2020</a:t>
            </a:r>
          </a:p>
        </p:txBody>
      </p:sp>
    </p:spTree>
    <p:extLst>
      <p:ext uri="{BB962C8B-B14F-4D97-AF65-F5344CB8AC3E}">
        <p14:creationId xmlns:p14="http://schemas.microsoft.com/office/powerpoint/2010/main" val="2469140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9534C88-8984-4A9D-800D-1A5FBF4CE76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4BC42E28-D07F-A947-9160-C3C20201BD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50825" y="1268413"/>
            <a:ext cx="4077452" cy="4752975"/>
          </a:xfrm>
        </p:spPr>
        <p:txBody>
          <a:bodyPr lIns="0" tIns="0" rIns="0" bIns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 dirty="0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 dirty="0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 dirty="0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 dirty="0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BD59618A-41EF-6E4D-B503-7B3984F444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815721" y="1268413"/>
            <a:ext cx="4077453" cy="47529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36D90DAD-B068-9B4E-BA01-F28E5D57C2F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738187" y="360349"/>
            <a:ext cx="2538413" cy="2286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/>
            </a:lvl1pPr>
          </a:lstStyle>
          <a:p>
            <a:pPr>
              <a:defRPr/>
            </a:pPr>
            <a:r>
              <a:rPr lang="en-US" altLang="ja-JP" dirty="0" err="1"/>
              <a:t>九州大学UIプロジェクト</a:t>
            </a:r>
            <a:r>
              <a:rPr lang="en-US" altLang="ja-JP" dirty="0"/>
              <a:t> </a:t>
            </a:r>
            <a:r>
              <a:rPr lang="en-US" altLang="ja-JP" dirty="0" err="1"/>
              <a:t>Kyudai</a:t>
            </a:r>
            <a:r>
              <a:rPr lang="en-US" altLang="ja-JP" dirty="0"/>
              <a:t> Taro,2020</a:t>
            </a:r>
          </a:p>
        </p:txBody>
      </p:sp>
    </p:spTree>
    <p:extLst>
      <p:ext uri="{BB962C8B-B14F-4D97-AF65-F5344CB8AC3E}">
        <p14:creationId xmlns:p14="http://schemas.microsoft.com/office/powerpoint/2010/main" val="2726172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BB1C027-7C5A-49FB-9818-3EF0E488DA5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4" name="テキスト プレースホルダー 5">
            <a:extLst>
              <a:ext uri="{FF2B5EF4-FFF2-40B4-BE49-F238E27FC236}">
                <a16:creationId xmlns:a16="http://schemas.microsoft.com/office/drawing/2014/main" id="{123E3E8E-69AA-8740-B567-C0B9F1CC0A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4213" y="1268413"/>
            <a:ext cx="7343774" cy="4752975"/>
          </a:xfrm>
        </p:spPr>
        <p:txBody>
          <a:bodyPr lIns="0" tIns="0" rIns="0" bIns="0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D111C-2CDB-EE43-B4CB-E3AFC788314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738187" y="260648"/>
            <a:ext cx="2538413" cy="476263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2600" baseline="0"/>
            </a:lvl1pPr>
          </a:lstStyle>
          <a:p>
            <a:pPr>
              <a:defRPr/>
            </a:pPr>
            <a:r>
              <a:rPr lang="en-US" altLang="ja-JP" dirty="0"/>
              <a:t>Enter text here</a:t>
            </a:r>
            <a:endParaRPr lang="en-US" altLang="ja-JP" sz="2600" dirty="0"/>
          </a:p>
        </p:txBody>
      </p:sp>
    </p:spTree>
    <p:extLst>
      <p:ext uri="{BB962C8B-B14F-4D97-AF65-F5344CB8AC3E}">
        <p14:creationId xmlns:p14="http://schemas.microsoft.com/office/powerpoint/2010/main" val="1804071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 bwMode="auto">
          <a:xfrm>
            <a:off x="0" y="152400"/>
            <a:ext cx="9144000" cy="609600"/>
          </a:xfrm>
          <a:prstGeom prst="rect">
            <a:avLst/>
          </a:prstGeom>
          <a:solidFill>
            <a:srgbClr val="6D0029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1" lang="ja-JP" altLang="en-US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966788"/>
            <a:ext cx="5867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00200"/>
            <a:ext cx="8153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94791" y="338138"/>
            <a:ext cx="2538413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000" dirty="0" err="1">
                <a:solidFill>
                  <a:schemeClr val="bg1"/>
                </a:solidFill>
                <a:latin typeface="Arial" charset="0"/>
                <a:ea typeface="ＭＳ Ｐゴシック" pitchFamily="8" charset="-128"/>
                <a:cs typeface="+mn-cs"/>
              </a:defRPr>
            </a:lvl1pPr>
          </a:lstStyle>
          <a:p>
            <a:pPr>
              <a:defRPr/>
            </a:pPr>
            <a:r>
              <a:rPr lang="en-US" altLang="ja-JP" dirty="0" err="1"/>
              <a:t>九州大学UIプロジェクト</a:t>
            </a:r>
            <a:r>
              <a:rPr lang="en-US" altLang="ja-JP" dirty="0"/>
              <a:t> </a:t>
            </a:r>
            <a:r>
              <a:rPr lang="en-US" altLang="ja-JP" dirty="0" err="1"/>
              <a:t>Kyudai</a:t>
            </a:r>
            <a:r>
              <a:rPr lang="en-US" altLang="ja-JP" dirty="0"/>
              <a:t> Taro,2020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29625" y="319088"/>
            <a:ext cx="4191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0FA2B928-A4AF-4E69-83D3-3924E321980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sp>
        <p:nvSpPr>
          <p:cNvPr id="1031" name="Rectangle 20"/>
          <p:cNvSpPr>
            <a:spLocks noChangeArrowheads="1"/>
          </p:cNvSpPr>
          <p:nvPr/>
        </p:nvSpPr>
        <p:spPr bwMode="auto">
          <a:xfrm>
            <a:off x="2362200" y="6511925"/>
            <a:ext cx="5867400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/>
            <a:r>
              <a:rPr lang="en-US" altLang="ja-JP" sz="1000">
                <a:solidFill>
                  <a:schemeClr val="bg1"/>
                </a:solidFill>
              </a:rPr>
              <a:t>九州大学UIプロジェクト Kyudai Taro,2007</a:t>
            </a:r>
          </a:p>
        </p:txBody>
      </p:sp>
      <p:pic>
        <p:nvPicPr>
          <p:cNvPr id="1032" name="図 9" descr="OOU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54000"/>
            <a:ext cx="4572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4" r:id="rId3"/>
    <p:sldLayoutId id="2147483795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+mj-lt"/>
          <a:ea typeface="+mj-ea"/>
          <a:cs typeface="ＭＳ Ｐゴシック" pitchFamily="-1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ＭＳ Ｐゴシック" pitchFamily="8" charset="-128"/>
          <a:cs typeface="ＭＳ Ｐゴシック" pitchFamily="-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ＭＳ Ｐゴシック" pitchFamily="8" charset="-128"/>
          <a:cs typeface="ＭＳ Ｐゴシック" pitchFamily="-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ＭＳ Ｐゴシック" pitchFamily="8" charset="-128"/>
          <a:cs typeface="ＭＳ Ｐゴシック" pitchFamily="-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ＭＳ Ｐゴシック" pitchFamily="8" charset="-128"/>
          <a:cs typeface="ＭＳ Ｐゴシック" pitchFamily="-1" charset="-128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ＭＳ Ｐゴシック" pitchFamily="8" charset="-128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ＭＳ Ｐゴシック" pitchFamily="8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ＭＳ Ｐゴシック" pitchFamily="8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200">
          <a:solidFill>
            <a:schemeClr val="bg1"/>
          </a:solidFill>
          <a:latin typeface="Arial" charset="0"/>
          <a:ea typeface="ＭＳ Ｐゴシック" pitchFamily="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600">
          <a:solidFill>
            <a:schemeClr val="tx1"/>
          </a:solidFill>
          <a:latin typeface="+mn-lt"/>
          <a:ea typeface="+mn-ea"/>
          <a:cs typeface="ＭＳ Ｐゴシック" pitchFamily="-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2744" userDrawn="1">
          <p15:clr>
            <a:srgbClr val="F26B43"/>
          </p15:clr>
        </p15:guide>
        <p15:guide id="4" pos="3152" userDrawn="1">
          <p15:clr>
            <a:srgbClr val="F26B43"/>
          </p15:clr>
        </p15:guide>
        <p15:guide id="5" pos="3969" userDrawn="1">
          <p15:clr>
            <a:srgbClr val="F26B43"/>
          </p15:clr>
        </p15:guide>
        <p15:guide id="6" pos="4241" userDrawn="1">
          <p15:clr>
            <a:srgbClr val="F26B43"/>
          </p15:clr>
        </p15:guide>
        <p15:guide id="7" pos="4513" userDrawn="1">
          <p15:clr>
            <a:srgbClr val="F26B43"/>
          </p15:clr>
        </p15:guide>
        <p15:guide id="8" pos="4785" userDrawn="1">
          <p15:clr>
            <a:srgbClr val="F26B43"/>
          </p15:clr>
        </p15:guide>
        <p15:guide id="9" pos="5057" userDrawn="1">
          <p15:clr>
            <a:srgbClr val="F26B43"/>
          </p15:clr>
        </p15:guide>
        <p15:guide id="10" pos="5329" userDrawn="1">
          <p15:clr>
            <a:srgbClr val="F26B43"/>
          </p15:clr>
        </p15:guide>
        <p15:guide id="11" pos="5692" userDrawn="1">
          <p15:clr>
            <a:srgbClr val="F26B43"/>
          </p15:clr>
        </p15:guide>
        <p15:guide id="12" pos="5602" userDrawn="1">
          <p15:clr>
            <a:srgbClr val="F26B43"/>
          </p15:clr>
        </p15:guide>
        <p15:guide id="13" pos="3696" userDrawn="1">
          <p15:clr>
            <a:srgbClr val="F26B43"/>
          </p15:clr>
        </p15:guide>
        <p15:guide id="14" pos="3424" userDrawn="1">
          <p15:clr>
            <a:srgbClr val="F26B43"/>
          </p15:clr>
        </p15:guide>
        <p15:guide id="15" pos="3016" userDrawn="1">
          <p15:clr>
            <a:srgbClr val="F26B43"/>
          </p15:clr>
        </p15:guide>
        <p15:guide id="16" pos="2608" userDrawn="1">
          <p15:clr>
            <a:srgbClr val="F26B43"/>
          </p15:clr>
        </p15:guide>
        <p15:guide id="17" pos="2336" userDrawn="1">
          <p15:clr>
            <a:srgbClr val="F26B43"/>
          </p15:clr>
        </p15:guide>
        <p15:guide id="18" pos="2064" userDrawn="1">
          <p15:clr>
            <a:srgbClr val="F26B43"/>
          </p15:clr>
        </p15:guide>
        <p15:guide id="19" pos="1791" userDrawn="1">
          <p15:clr>
            <a:srgbClr val="F26B43"/>
          </p15:clr>
        </p15:guide>
        <p15:guide id="21" pos="1247" userDrawn="1">
          <p15:clr>
            <a:srgbClr val="F26B43"/>
          </p15:clr>
        </p15:guide>
        <p15:guide id="22" pos="975" userDrawn="1">
          <p15:clr>
            <a:srgbClr val="F26B43"/>
          </p15:clr>
        </p15:guide>
        <p15:guide id="23" pos="703" userDrawn="1">
          <p15:clr>
            <a:srgbClr val="F26B43"/>
          </p15:clr>
        </p15:guide>
        <p15:guide id="24" pos="431" userDrawn="1">
          <p15:clr>
            <a:srgbClr val="F26B43"/>
          </p15:clr>
        </p15:guide>
        <p15:guide id="25" pos="68" userDrawn="1">
          <p15:clr>
            <a:srgbClr val="F26B43"/>
          </p15:clr>
        </p15:guide>
        <p15:guide id="26" pos="158" userDrawn="1">
          <p15:clr>
            <a:srgbClr val="F26B43"/>
          </p15:clr>
        </p15:guide>
        <p15:guide id="27" pos="1519" userDrawn="1">
          <p15:clr>
            <a:srgbClr val="F26B43"/>
          </p15:clr>
        </p15:guide>
        <p15:guide id="28" orient="horz" pos="1888" userDrawn="1">
          <p15:clr>
            <a:srgbClr val="F26B43"/>
          </p15:clr>
        </p15:guide>
        <p15:guide id="29" orient="horz" pos="1616" userDrawn="1">
          <p15:clr>
            <a:srgbClr val="F26B43"/>
          </p15:clr>
        </p15:guide>
        <p15:guide id="30" orient="horz" pos="1344" userDrawn="1">
          <p15:clr>
            <a:srgbClr val="F26B43"/>
          </p15:clr>
        </p15:guide>
        <p15:guide id="31" orient="horz" pos="1071" userDrawn="1">
          <p15:clr>
            <a:srgbClr val="F26B43"/>
          </p15:clr>
        </p15:guide>
        <p15:guide id="32" orient="horz" pos="799" userDrawn="1">
          <p15:clr>
            <a:srgbClr val="F26B43"/>
          </p15:clr>
        </p15:guide>
        <p15:guide id="33" orient="horz" pos="527" userDrawn="1">
          <p15:clr>
            <a:srgbClr val="F26B43"/>
          </p15:clr>
        </p15:guide>
        <p15:guide id="35" orient="horz" pos="255" userDrawn="1">
          <p15:clr>
            <a:srgbClr val="F26B43"/>
          </p15:clr>
        </p15:guide>
        <p15:guide id="37" orient="horz" pos="2432" userDrawn="1">
          <p15:clr>
            <a:srgbClr val="F26B43"/>
          </p15:clr>
        </p15:guide>
        <p15:guide id="38" orient="horz" pos="2704" userDrawn="1">
          <p15:clr>
            <a:srgbClr val="F26B43"/>
          </p15:clr>
        </p15:guide>
        <p15:guide id="39" orient="horz" pos="2976" userDrawn="1">
          <p15:clr>
            <a:srgbClr val="F26B43"/>
          </p15:clr>
        </p15:guide>
        <p15:guide id="40" orient="horz" pos="3249" userDrawn="1">
          <p15:clr>
            <a:srgbClr val="F26B43"/>
          </p15:clr>
        </p15:guide>
        <p15:guide id="41" orient="horz" pos="3521" userDrawn="1">
          <p15:clr>
            <a:srgbClr val="F26B43"/>
          </p15:clr>
        </p15:guide>
        <p15:guide id="43" orient="horz" pos="3793" userDrawn="1">
          <p15:clr>
            <a:srgbClr val="F26B43"/>
          </p15:clr>
        </p15:guide>
        <p15:guide id="45" orient="horz" pos="4065" userDrawn="1">
          <p15:clr>
            <a:srgbClr val="F26B43"/>
          </p15:clr>
        </p15:guide>
        <p15:guide id="47" orient="horz" pos="4156" userDrawn="1">
          <p15:clr>
            <a:srgbClr val="F26B43"/>
          </p15:clr>
        </p15:guide>
        <p15:guide id="49" orient="horz" pos="4247" userDrawn="1">
          <p15:clr>
            <a:srgbClr val="F26B43"/>
          </p15:clr>
        </p15:guide>
        <p15:guide id="50" orient="horz" pos="164" userDrawn="1">
          <p15:clr>
            <a:srgbClr val="F26B43"/>
          </p15:clr>
        </p15:guide>
        <p15:guide id="51" orient="horz" pos="7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685800" y="1824038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ja-JP" dirty="0"/>
              <a:t>Importance of N2Hx Reaction Pathways in Modelling of NH3/H2/Air Flame Chemistry</a:t>
            </a:r>
            <a:endParaRPr lang="ja-JP" altLang="en-US" baseline="-25000" dirty="0"/>
          </a:p>
        </p:txBody>
      </p:sp>
      <p:sp>
        <p:nvSpPr>
          <p:cNvPr id="15364" name="Rectangle 15"/>
          <p:cNvSpPr>
            <a:spLocks noChangeArrowheads="1"/>
          </p:cNvSpPr>
          <p:nvPr/>
        </p:nvSpPr>
        <p:spPr bwMode="auto">
          <a:xfrm>
            <a:off x="571500" y="4143375"/>
            <a:ext cx="80391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ja-JP" sz="1600" dirty="0">
                <a:latin typeface="+mj-lt"/>
              </a:rPr>
              <a:t>Department of Mechanical Engineering, Reactive Gas Dynamics</a:t>
            </a:r>
            <a:endParaRPr lang="ja-JP" altLang="en-US" sz="1600" dirty="0">
              <a:latin typeface="+mj-lt"/>
            </a:endParaRP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altLang="ja-JP" sz="1600" dirty="0">
                <a:latin typeface="+mj-lt"/>
              </a:rPr>
              <a:t>UROTHIYIL Aahil Ashraf</a:t>
            </a:r>
            <a:endParaRPr lang="ja-JP" altLang="en-US" sz="1600" dirty="0">
              <a:latin typeface="+mj-lt"/>
            </a:endParaRPr>
          </a:p>
        </p:txBody>
      </p:sp>
      <p:sp>
        <p:nvSpPr>
          <p:cNvPr id="15365" name="Rectangle 16"/>
          <p:cNvSpPr>
            <a:spLocks noChangeArrowheads="1"/>
          </p:cNvSpPr>
          <p:nvPr/>
        </p:nvSpPr>
        <p:spPr bwMode="auto">
          <a:xfrm>
            <a:off x="533400" y="4981575"/>
            <a:ext cx="807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6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ja-JP" sz="1400" dirty="0"/>
              <a:t>2026</a:t>
            </a:r>
            <a:r>
              <a:rPr lang="ja-JP" altLang="en-US" sz="1400" dirty="0"/>
              <a:t>年</a:t>
            </a:r>
            <a:r>
              <a:rPr lang="en-US" altLang="ja-JP" sz="1400" dirty="0"/>
              <a:t>11</a:t>
            </a:r>
            <a:r>
              <a:rPr lang="ja-JP" altLang="en-US" sz="1400" dirty="0"/>
              <a:t>月</a:t>
            </a:r>
            <a:r>
              <a:rPr lang="en-US" altLang="ja-JP" sz="1400" dirty="0"/>
              <a:t>8</a:t>
            </a:r>
            <a:r>
              <a:rPr lang="ja-JP" altLang="en-US" sz="1400" dirty="0"/>
              <a:t>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CD323A-E77C-EDE4-1A7A-266C460C2C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BB1C027-7C5A-49FB-9818-3EF0E488DA5A}" type="slidenum">
              <a:rPr lang="en-US" altLang="ja-JP" smtClean="0"/>
              <a:pPr>
                <a:defRPr/>
              </a:pPr>
              <a:t>1</a:t>
            </a:fld>
            <a:endParaRPr lang="en-US" altLang="ja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702B3-835B-9CDD-5CF5-38E137AE96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4B74A-2A91-B396-706E-0E13CD6E11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 dirty="0"/>
              <a:t>Background</a:t>
            </a:r>
            <a:endParaRPr lang="en-US" altLang="ja-JP" sz="2600" dirty="0"/>
          </a:p>
        </p:txBody>
      </p:sp>
    </p:spTree>
    <p:extLst>
      <p:ext uri="{BB962C8B-B14F-4D97-AF65-F5344CB8AC3E}">
        <p14:creationId xmlns:p14="http://schemas.microsoft.com/office/powerpoint/2010/main" val="1089051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A40D81-294C-9DD1-D3B8-1BBEC1EB1B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BB1C027-7C5A-49FB-9818-3EF0E488DA5A}" type="slidenum">
              <a:rPr lang="en-US" altLang="ja-JP" smtClean="0"/>
              <a:pPr>
                <a:defRPr/>
              </a:pPr>
              <a:t>2</a:t>
            </a:fld>
            <a:endParaRPr lang="en-US" altLang="ja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73F6F-AA3D-2B53-7C88-A20A4D7FAD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Develop a reduced kinetic mechanism optimized for NH3, NH3/CH4 and NH3/H2 flames.</a:t>
            </a:r>
          </a:p>
          <a:p>
            <a:r>
              <a:rPr lang="en-GB" dirty="0"/>
              <a:t>Validate the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54B30C-2C4A-C294-25C0-BF98ABEA127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 dirty="0"/>
              <a:t>Objectives</a:t>
            </a:r>
            <a:endParaRPr lang="en-US" altLang="ja-JP" sz="2600" dirty="0"/>
          </a:p>
        </p:txBody>
      </p:sp>
    </p:spTree>
    <p:extLst>
      <p:ext uri="{BB962C8B-B14F-4D97-AF65-F5344CB8AC3E}">
        <p14:creationId xmlns:p14="http://schemas.microsoft.com/office/powerpoint/2010/main" val="2273380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86F766-84AD-A16A-D59A-BCF98A6D0A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BB1C027-7C5A-49FB-9818-3EF0E488DA5A}" type="slidenum">
              <a:rPr lang="en-US" altLang="ja-JP" smtClean="0"/>
              <a:pPr>
                <a:defRPr/>
              </a:pPr>
              <a:t>3</a:t>
            </a:fld>
            <a:endParaRPr lang="en-US" altLang="ja-JP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9389101-2B7E-0B58-47B7-90C1BD19FF28}"/>
                  </a:ext>
                </a:extLst>
              </p:cNvPr>
              <p:cNvSpPr>
                <a:spLocks noGrp="1"/>
              </p:cNvSpPr>
              <p:nvPr>
                <p:ph type="body" sz="quarter" idx="12"/>
              </p:nvPr>
            </p:nvSpPr>
            <p:spPr/>
            <p:txBody>
              <a:bodyPr/>
              <a:lstStyle/>
              <a:p>
                <a:r>
                  <a:rPr lang="en-US" dirty="0"/>
                  <a:t>Unstretched laminar burning velocity,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/>
                  <a:t>, of premixed flames calculated with 1D unstretched adiabatic simulations</a:t>
                </a:r>
              </a:p>
              <a:p>
                <a:pPr lvl="1"/>
                <a:endParaRPr lang="en-GB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9389101-2B7E-0B58-47B7-90C1BD19FF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blipFill>
                <a:blip r:embed="rId2"/>
                <a:stretch>
                  <a:fillRect l="-2490" t="-21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E9F67-3BD7-3312-C920-7AA2B73C90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38187" y="260648"/>
            <a:ext cx="6930157" cy="476263"/>
          </a:xfrm>
        </p:spPr>
        <p:txBody>
          <a:bodyPr/>
          <a:lstStyle/>
          <a:p>
            <a:pPr>
              <a:defRPr/>
            </a:pPr>
            <a:r>
              <a:rPr lang="en-US" altLang="ja-JP" dirty="0"/>
              <a:t>Numerical Procedure</a:t>
            </a:r>
          </a:p>
        </p:txBody>
      </p:sp>
    </p:spTree>
    <p:extLst>
      <p:ext uri="{BB962C8B-B14F-4D97-AF65-F5344CB8AC3E}">
        <p14:creationId xmlns:p14="http://schemas.microsoft.com/office/powerpoint/2010/main" val="3374920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A0E59E-51C7-D4F1-0E32-FBEFDC411C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BB1C027-7C5A-49FB-9818-3EF0E488DA5A}" type="slidenum">
              <a:rPr lang="en-US" altLang="ja-JP" smtClean="0"/>
              <a:pPr>
                <a:defRPr/>
              </a:pPr>
              <a:t>4</a:t>
            </a:fld>
            <a:endParaRPr lang="en-US" altLang="ja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9B8C6-9709-8090-00A7-24C9C5D89D1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7E8790-ADA5-9B42-409F-79D7D5FE17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ja-JP"/>
              <a:t>九州大学UIプロジェクト Kyudai Taro,2020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77932985"/>
      </p:ext>
    </p:extLst>
  </p:cSld>
  <p:clrMapOvr>
    <a:masterClrMapping/>
  </p:clrMapOvr>
</p:sld>
</file>

<file path=ppt/theme/theme1.xml><?xml version="1.0" encoding="utf-8"?>
<a:theme xmlns:a="http://schemas.openxmlformats.org/drawingml/2006/main" name="新しいプレゼンテーション">
  <a:themeElements>
    <a:clrScheme name="新しいプレゼンテーショ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新しいプレゼンテーショ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新しいプレゼンテーショ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</TotalTime>
  <Words>84</Words>
  <Application>Microsoft Office PowerPoint</Application>
  <PresentationFormat>On-screen Show (4:3)</PresentationFormat>
  <Paragraphs>16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Cambria Math</vt:lpstr>
      <vt:lpstr>新しいプレゼンテーション</vt:lpstr>
      <vt:lpstr>Importance of N2Hx Reaction Pathways in Modelling of NH3/H2/Air Flame Chemistry</vt:lpstr>
      <vt:lpstr>PowerPoint Presentation</vt:lpstr>
      <vt:lpstr>PowerPoint Presentation</vt:lpstr>
      <vt:lpstr>PowerPoint Presentation</vt:lpstr>
      <vt:lpstr>PowerPoint Presentation</vt:lpstr>
    </vt:vector>
  </TitlesOfParts>
  <Company>Ihara .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UIプロジェクトX</dc:title>
  <dc:creator>森永 正樹</dc:creator>
  <cp:lastModifiedBy>Urothiyil Aahil Ashraf</cp:lastModifiedBy>
  <cp:revision>83</cp:revision>
  <cp:lastPrinted>2013-02-26T06:20:36Z</cp:lastPrinted>
  <dcterms:created xsi:type="dcterms:W3CDTF">2007-10-25T08:30:33Z</dcterms:created>
  <dcterms:modified xsi:type="dcterms:W3CDTF">2026-10-07T05:07:52Z</dcterms:modified>
</cp:coreProperties>
</file>